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55" r:id="rId2"/>
    <p:sldId id="480" r:id="rId3"/>
    <p:sldId id="386" r:id="rId4"/>
    <p:sldId id="484" r:id="rId5"/>
    <p:sldId id="485" r:id="rId6"/>
    <p:sldId id="486" r:id="rId7"/>
    <p:sldId id="487" r:id="rId8"/>
    <p:sldId id="392" r:id="rId9"/>
    <p:sldId id="393" r:id="rId10"/>
    <p:sldId id="483" r:id="rId11"/>
    <p:sldId id="395" r:id="rId12"/>
    <p:sldId id="391" r:id="rId13"/>
    <p:sldId id="488" r:id="rId14"/>
    <p:sldId id="490" r:id="rId15"/>
    <p:sldId id="489" r:id="rId16"/>
    <p:sldId id="491" r:id="rId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09B"/>
    <a:srgbClr val="7D3B05"/>
    <a:srgbClr val="0060A8"/>
    <a:srgbClr val="FFFF99"/>
    <a:srgbClr val="404040"/>
    <a:srgbClr val="642F04"/>
    <a:srgbClr val="5C2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4101" autoAdjust="0"/>
  </p:normalViewPr>
  <p:slideViewPr>
    <p:cSldViewPr>
      <p:cViewPr varScale="1">
        <p:scale>
          <a:sx n="95" d="100"/>
          <a:sy n="95" d="100"/>
        </p:scale>
        <p:origin x="552" y="78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2CB89-4B05-4A85-A999-B39F95BABE18}" type="datetimeFigureOut">
              <a:rPr lang="zh-CN" altLang="en-US" smtClean="0"/>
              <a:pPr/>
              <a:t>2023/5/22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8BCB2-82C8-4B83-A32F-14ECBEE566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255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29D7EDA-0295-406E-BA68-4D0790A961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97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B539985-1F1C-4FDC-B9A1-575107D9C1B3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328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513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117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135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070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36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322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321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452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667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097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8FF053-70FE-403A-95EA-18DFD74D14C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001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43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9D7EDA-0295-406E-BA68-4D0790A961A0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391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库存数据 4"/>
          <p:cNvSpPr/>
          <p:nvPr/>
        </p:nvSpPr>
        <p:spPr>
          <a:xfrm rot="3294886">
            <a:off x="5830094" y="5320506"/>
            <a:ext cx="1371600" cy="858838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7" name="流程图: 库存数据 6"/>
          <p:cNvSpPr/>
          <p:nvPr/>
        </p:nvSpPr>
        <p:spPr>
          <a:xfrm rot="8191601">
            <a:off x="7854950" y="5559425"/>
            <a:ext cx="1371600" cy="379413"/>
          </a:xfrm>
          <a:prstGeom prst="flowChartOnlineStorag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733925" y="0"/>
            <a:ext cx="4086225" cy="7350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5307013" y="93663"/>
            <a:ext cx="3852862" cy="5476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372225" y="93663"/>
            <a:ext cx="2663825" cy="455612"/>
          </a:xfrm>
        </p:spPr>
        <p:txBody>
          <a:bodyPr>
            <a:noAutofit/>
          </a:bodyPr>
          <a:lstStyle>
            <a:lvl1pPr marL="0" indent="0">
              <a:buNone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-24"/>
            <a:ext cx="4618037" cy="793750"/>
            <a:chOff x="4525963" y="-12700"/>
            <a:chExt cx="4618037" cy="793750"/>
          </a:xfrm>
        </p:grpSpPr>
        <p:pic>
          <p:nvPicPr>
            <p:cNvPr id="6147" name="Picture 2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25963" y="-12700"/>
              <a:ext cx="4618037" cy="76358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pic>
          <p:nvPicPr>
            <p:cNvPr id="6148" name="Picture 3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25963" y="692150"/>
              <a:ext cx="4616450" cy="88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8786844" y="0"/>
            <a:ext cx="357188" cy="688975"/>
            <a:chOff x="-4763" y="-3175"/>
            <a:chExt cx="357188" cy="688975"/>
          </a:xfrm>
        </p:grpSpPr>
        <p:pic>
          <p:nvPicPr>
            <p:cNvPr id="6149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-317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0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141288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1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290513"/>
              <a:ext cx="357188" cy="77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2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444500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3" name="Picture 7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763" y="606425"/>
              <a:ext cx="357188" cy="7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7649" name="Picture 1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14876" y="0"/>
            <a:ext cx="41021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19137" y="2351087"/>
            <a:ext cx="9144000" cy="2016125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zh-CN" altLang="en-US">
              <a:solidFill>
                <a:srgbClr val="B0252A"/>
              </a:solidFill>
            </a:endParaRPr>
          </a:p>
        </p:txBody>
      </p:sp>
      <p:sp>
        <p:nvSpPr>
          <p:cNvPr id="30724" name="直接连接符 3"/>
          <p:cNvSpPr>
            <a:spLocks noChangeShapeType="1"/>
          </p:cNvSpPr>
          <p:nvPr/>
        </p:nvSpPr>
        <p:spPr bwMode="auto">
          <a:xfrm>
            <a:off x="0" y="4506913"/>
            <a:ext cx="9144000" cy="1587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Box 4"/>
          <p:cNvSpPr>
            <a:spLocks noChangeArrowheads="1"/>
          </p:cNvSpPr>
          <p:nvPr/>
        </p:nvSpPr>
        <p:spPr bwMode="auto">
          <a:xfrm>
            <a:off x="-19137" y="2636912"/>
            <a:ext cx="9144000" cy="906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实验四 基于</a:t>
            </a:r>
            <a:r>
              <a:rPr lang="en-US" altLang="zh-CN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VHDL</a:t>
            </a: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语言的电路设计</a:t>
            </a:r>
            <a:endParaRPr lang="zh-CN" altLang="en-US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9A01BB-6516-441B-9B62-0157EE3180FA}"/>
              </a:ext>
            </a:extLst>
          </p:cNvPr>
          <p:cNvSpPr/>
          <p:nvPr/>
        </p:nvSpPr>
        <p:spPr>
          <a:xfrm>
            <a:off x="0" y="44624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数字电子技术基础实验</a:t>
            </a:r>
          </a:p>
        </p:txBody>
      </p:sp>
    </p:spTree>
    <p:extLst>
      <p:ext uri="{BB962C8B-B14F-4D97-AF65-F5344CB8AC3E}">
        <p14:creationId xmlns:p14="http://schemas.microsoft.com/office/powerpoint/2010/main" val="325016280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EA135B-0D76-4634-A13A-99C23027CA55}"/>
              </a:ext>
            </a:extLst>
          </p:cNvPr>
          <p:cNvSpPr/>
          <p:nvPr/>
        </p:nvSpPr>
        <p:spPr>
          <a:xfrm>
            <a:off x="395536" y="980728"/>
            <a:ext cx="8568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Very-High-Speed Integrated Circuit Hardware Description Language</a:t>
            </a:r>
            <a:endParaRPr lang="zh-CN" altLang="en-US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240352-F7AA-41ED-9219-3EA7E73A287D}"/>
              </a:ext>
            </a:extLst>
          </p:cNvPr>
          <p:cNvSpPr/>
          <p:nvPr/>
        </p:nvSpPr>
        <p:spPr>
          <a:xfrm>
            <a:off x="360016" y="1988840"/>
            <a:ext cx="8568952" cy="4454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库：常用代码块的集合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实体：</a:t>
            </a: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VHDL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程序设计中的最基本的模块，其功能是对某设计实体与外部电路互联接口的描述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端口：实体的对外通道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结构体：描述实体的内部电路结构或具体逻辑功能，建立实体输入输出端口之间的逻辑关系</a:t>
            </a:r>
            <a:endParaRPr lang="en-US" altLang="zh-CN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VHDL</a:t>
            </a:r>
            <a:r>
              <a:rPr lang="zh-CN" altLang="en-US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语言基本要素：文字规则、数据对象、数据类型、运算操作等</a:t>
            </a:r>
          </a:p>
        </p:txBody>
      </p:sp>
    </p:spTree>
    <p:extLst>
      <p:ext uri="{BB962C8B-B14F-4D97-AF65-F5344CB8AC3E}">
        <p14:creationId xmlns:p14="http://schemas.microsoft.com/office/powerpoint/2010/main" val="84812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EA135B-0D76-4634-A13A-99C23027CA55}"/>
              </a:ext>
            </a:extLst>
          </p:cNvPr>
          <p:cNvSpPr/>
          <p:nvPr/>
        </p:nvSpPr>
        <p:spPr>
          <a:xfrm>
            <a:off x="395536" y="980728"/>
            <a:ext cx="85689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Very-High-Speed Integrated Circuit Hardware Description Language</a:t>
            </a:r>
            <a:endParaRPr lang="zh-CN" altLang="en-US" sz="24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C36429-4924-4952-852A-D03088B6B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11725"/>
            <a:ext cx="7838498" cy="4209564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501AA5CF-00F3-4FB5-9060-BC18D245AD12}"/>
              </a:ext>
            </a:extLst>
          </p:cNvPr>
          <p:cNvSpPr/>
          <p:nvPr/>
        </p:nvSpPr>
        <p:spPr>
          <a:xfrm>
            <a:off x="2483768" y="2852936"/>
            <a:ext cx="1080120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DEBCD47-0F3A-4857-80DF-AF7A16358635}"/>
              </a:ext>
            </a:extLst>
          </p:cNvPr>
          <p:cNvSpPr/>
          <p:nvPr/>
        </p:nvSpPr>
        <p:spPr>
          <a:xfrm>
            <a:off x="2051720" y="3565070"/>
            <a:ext cx="1080120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9E8BC5F-4F6B-4728-9507-3FC44CA661D3}"/>
              </a:ext>
            </a:extLst>
          </p:cNvPr>
          <p:cNvSpPr/>
          <p:nvPr/>
        </p:nvSpPr>
        <p:spPr>
          <a:xfrm>
            <a:off x="4605063" y="4221088"/>
            <a:ext cx="1080120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CC82AA-421E-478A-8ED8-9E6838264990}"/>
              </a:ext>
            </a:extLst>
          </p:cNvPr>
          <p:cNvSpPr txBox="1"/>
          <p:nvPr/>
        </p:nvSpPr>
        <p:spPr>
          <a:xfrm>
            <a:off x="6868146" y="6021289"/>
            <a:ext cx="1731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test2.vhd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151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运算符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10C9D3-D64C-497B-94E9-ABB2D9640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908720"/>
            <a:ext cx="8020050" cy="26384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F603FA-FFF4-4125-B142-6AABC4D13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3429000"/>
            <a:ext cx="782955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7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运算符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F3A0D8-1092-4E41-9534-D5FEB326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96752"/>
            <a:ext cx="860555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9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运算符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4EB871-FDE5-4761-BA82-CF22EF652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052736"/>
            <a:ext cx="8402304" cy="50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运算符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1F976E-130F-4B8F-8D83-7E4ABE114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24744"/>
            <a:ext cx="7781925" cy="9810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F20DE0D-2380-4551-A2D3-C259A0776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84" y="2348880"/>
            <a:ext cx="7915275" cy="1600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B98D10-DD14-42EB-A6E1-7F0AC501A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96" y="4167559"/>
            <a:ext cx="77914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1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译码器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624FC3-46E1-4872-A62C-F739A41EF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577" y="975764"/>
            <a:ext cx="4661652" cy="52696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E141B18-A4D4-4C93-92FF-A35E02E86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24" y="754562"/>
            <a:ext cx="1691109" cy="3446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512BA6-87D1-41A8-B944-83FED2F23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666" y="1098825"/>
            <a:ext cx="4784334" cy="545884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18752CD-DD3F-45FE-8A7A-EED9B4ED95E3}"/>
              </a:ext>
            </a:extLst>
          </p:cNvPr>
          <p:cNvSpPr txBox="1"/>
          <p:nvPr/>
        </p:nvSpPr>
        <p:spPr>
          <a:xfrm>
            <a:off x="4359666" y="6417254"/>
            <a:ext cx="4646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END </a:t>
            </a:r>
            <a:r>
              <a:rPr lang="en-US" altLang="zh-CN" b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fwm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1889188-6765-4A02-9AFF-CF031405287D}"/>
              </a:ext>
            </a:extLst>
          </p:cNvPr>
          <p:cNvSpPr/>
          <p:nvPr/>
        </p:nvSpPr>
        <p:spPr>
          <a:xfrm>
            <a:off x="5376195" y="1054966"/>
            <a:ext cx="635965" cy="431824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5DB4C4-ACA2-4344-B940-64651CBCA8B9}"/>
              </a:ext>
            </a:extLst>
          </p:cNvPr>
          <p:cNvSpPr/>
          <p:nvPr/>
        </p:nvSpPr>
        <p:spPr>
          <a:xfrm>
            <a:off x="4636924" y="5444764"/>
            <a:ext cx="3463468" cy="31441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81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4F9BC1-36FC-4161-A84D-896A89988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672805"/>
            <a:ext cx="1584176" cy="28968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156093-B368-495A-98E8-14F044BEC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764704"/>
            <a:ext cx="3096344" cy="486141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9C705C7-76D7-429C-9476-91A7804083B8}"/>
              </a:ext>
            </a:extLst>
          </p:cNvPr>
          <p:cNvSpPr/>
          <p:nvPr/>
        </p:nvSpPr>
        <p:spPr>
          <a:xfrm flipH="1">
            <a:off x="4211960" y="2060848"/>
            <a:ext cx="3657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1111001</a:t>
            </a:r>
            <a:endParaRPr lang="zh-CN" altLang="en-US" sz="36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B5B87C-9F30-43EB-AB99-A6DF53480722}"/>
              </a:ext>
            </a:extLst>
          </p:cNvPr>
          <p:cNvSpPr/>
          <p:nvPr/>
        </p:nvSpPr>
        <p:spPr>
          <a:xfrm flipH="1">
            <a:off x="4211960" y="1349639"/>
            <a:ext cx="3657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0</a:t>
            </a:r>
            <a:r>
              <a:rPr lang="zh-CN" altLang="en-US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1000000</a:t>
            </a:r>
            <a:endParaRPr lang="zh-CN" altLang="en-US" sz="36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6C328E-F84E-4F5E-8DAD-3D4F3F0DE0BE}"/>
              </a:ext>
            </a:extLst>
          </p:cNvPr>
          <p:cNvSpPr/>
          <p:nvPr/>
        </p:nvSpPr>
        <p:spPr>
          <a:xfrm flipH="1">
            <a:off x="4246295" y="3105834"/>
            <a:ext cx="3657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?</a:t>
            </a:r>
            <a:endParaRPr lang="zh-CN" altLang="en-US" sz="36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113697-0A80-4E76-A276-07AEBB473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363" y="2852023"/>
            <a:ext cx="939300" cy="17176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630C827-038C-4AA8-BC84-9A1CE1B38DF0}"/>
              </a:ext>
            </a:extLst>
          </p:cNvPr>
          <p:cNvSpPr/>
          <p:nvPr/>
        </p:nvSpPr>
        <p:spPr>
          <a:xfrm flipH="1">
            <a:off x="4270747" y="5877670"/>
            <a:ext cx="36579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?</a:t>
            </a:r>
            <a:endParaRPr lang="zh-CN" altLang="en-US" sz="36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6915A88-516D-4E0F-9B47-B1BF5FD2CC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363" y="4797151"/>
            <a:ext cx="939300" cy="16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6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触发器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D0F23E1-EF39-435F-890B-556BFE36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2" y="908720"/>
            <a:ext cx="3943350" cy="26289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56F6134-4F07-4084-B716-7E9174E18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264" y="1124744"/>
            <a:ext cx="3390900" cy="18192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F3BA1C-7EA3-4ABA-B617-ADE4109AD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4" y="3998813"/>
            <a:ext cx="8890300" cy="160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18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计数器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B29BD-133F-4958-9D09-6E3122239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0" y="866209"/>
            <a:ext cx="4218561" cy="40324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03CE60-4D61-4209-B781-3E618373A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520" y="841495"/>
            <a:ext cx="469648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右大括号 4">
            <a:extLst>
              <a:ext uri="{FF2B5EF4-FFF2-40B4-BE49-F238E27FC236}">
                <a16:creationId xmlns:a16="http://schemas.microsoft.com/office/drawing/2014/main" id="{CDF9D731-12C2-4D3B-A783-A74147F972BD}"/>
              </a:ext>
            </a:extLst>
          </p:cNvPr>
          <p:cNvSpPr/>
          <p:nvPr/>
        </p:nvSpPr>
        <p:spPr>
          <a:xfrm rot="16200000">
            <a:off x="4347938" y="435837"/>
            <a:ext cx="592137" cy="640871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CB76E6-75EF-43B4-9594-31BE57ABC817}"/>
              </a:ext>
            </a:extLst>
          </p:cNvPr>
          <p:cNvSpPr/>
          <p:nvPr/>
        </p:nvSpPr>
        <p:spPr>
          <a:xfrm>
            <a:off x="5718708" y="1033054"/>
            <a:ext cx="86409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BDF</a:t>
            </a:r>
            <a:endParaRPr lang="zh-CN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C34EA8-B5AC-46F0-AB39-2CD13A668392}"/>
              </a:ext>
            </a:extLst>
          </p:cNvPr>
          <p:cNvSpPr/>
          <p:nvPr/>
        </p:nvSpPr>
        <p:spPr>
          <a:xfrm>
            <a:off x="5719327" y="1643919"/>
            <a:ext cx="86409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VHD</a:t>
            </a:r>
            <a:endParaRPr lang="zh-CN" altLang="en-US" sz="2800" dirty="0"/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49062DDD-9FFC-42AB-AB0A-730739E23894}"/>
              </a:ext>
            </a:extLst>
          </p:cNvPr>
          <p:cNvSpPr/>
          <p:nvPr/>
        </p:nvSpPr>
        <p:spPr>
          <a:xfrm>
            <a:off x="5148064" y="1211871"/>
            <a:ext cx="360040" cy="704961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B20DD8DA-B42B-415C-BA1A-D7BF2FC40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414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2C0A1CE-9EFD-4972-936B-021422F9BA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63613" y="4019550"/>
            <a:ext cx="7218363" cy="2284412"/>
            <a:chOff x="607" y="2532"/>
            <a:chExt cx="4547" cy="1439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CDB5C222-8C7D-444A-B4BF-D70A7845A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2532"/>
              <a:ext cx="817" cy="617"/>
            </a:xfrm>
            <a:prstGeom prst="rect">
              <a:avLst/>
            </a:prstGeom>
            <a:solidFill>
              <a:srgbClr val="DEEB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DA6127E4-A063-41F2-9FD6-02EC69ECC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2532"/>
              <a:ext cx="817" cy="617"/>
            </a:xfrm>
            <a:prstGeom prst="rect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69D42315-5322-4C98-AF73-A29AED134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" y="2622"/>
              <a:ext cx="699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Project1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81DFB44-DF15-4309-AE24-FD5E49DD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2854"/>
              <a:ext cx="34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计数器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710C1A-EC39-4306-93D4-D2F6E7063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8" y="2532"/>
              <a:ext cx="818" cy="617"/>
            </a:xfrm>
            <a:prstGeom prst="rect">
              <a:avLst/>
            </a:prstGeom>
            <a:solidFill>
              <a:srgbClr val="DEEB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D6F64289-2E3B-433B-82EB-2DADEB24D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" y="2532"/>
              <a:ext cx="818" cy="617"/>
            </a:xfrm>
            <a:prstGeom prst="rect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C8C7AC0B-A73C-4052-BAA0-B3A4CF493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2622"/>
              <a:ext cx="63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Project</a:t>
              </a:r>
              <a:r>
                <a:rPr kumimoji="0" lang="en-US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C35BCC11-27C0-414C-94F3-E201CF110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" y="2854"/>
              <a:ext cx="34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译码器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5870175D-B83A-461B-9491-B26237DEF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2532"/>
              <a:ext cx="817" cy="617"/>
            </a:xfrm>
            <a:prstGeom prst="rect">
              <a:avLst/>
            </a:prstGeom>
            <a:solidFill>
              <a:srgbClr val="DEEB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717AA4E2-0534-4500-846C-B88EDE565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2532"/>
              <a:ext cx="817" cy="617"/>
            </a:xfrm>
            <a:prstGeom prst="rect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Rectangle 19">
              <a:extLst>
                <a:ext uri="{FF2B5EF4-FFF2-40B4-BE49-F238E27FC236}">
                  <a16:creationId xmlns:a16="http://schemas.microsoft.com/office/drawing/2014/main" id="{BF8F6B12-A140-4BDF-86E9-6F25A536C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" y="2737"/>
              <a:ext cx="63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Project</a:t>
              </a:r>
              <a:r>
                <a:rPr kumimoji="0" lang="en-US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Oval 20">
              <a:extLst>
                <a:ext uri="{FF2B5EF4-FFF2-40B4-BE49-F238E27FC236}">
                  <a16:creationId xmlns:a16="http://schemas.microsoft.com/office/drawing/2014/main" id="{E1D19398-1338-449F-9AF3-1BDCFB6BA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" y="3354"/>
              <a:ext cx="919" cy="617"/>
            </a:xfrm>
            <a:prstGeom prst="ellipse">
              <a:avLst/>
            </a:prstGeom>
            <a:solidFill>
              <a:srgbClr val="DEEBF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21">
              <a:extLst>
                <a:ext uri="{FF2B5EF4-FFF2-40B4-BE49-F238E27FC236}">
                  <a16:creationId xmlns:a16="http://schemas.microsoft.com/office/drawing/2014/main" id="{52290CDA-CCAF-4209-9692-ECBB10E86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" y="3354"/>
              <a:ext cx="919" cy="617"/>
            </a:xfrm>
            <a:prstGeom prst="ellipse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Rectangle 22">
              <a:extLst>
                <a:ext uri="{FF2B5EF4-FFF2-40B4-BE49-F238E27FC236}">
                  <a16:creationId xmlns:a16="http://schemas.microsoft.com/office/drawing/2014/main" id="{CA73E9F5-1AF4-4658-90EF-940857BEA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" y="3560"/>
              <a:ext cx="613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V1.vhd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Oval 26">
              <a:extLst>
                <a:ext uri="{FF2B5EF4-FFF2-40B4-BE49-F238E27FC236}">
                  <a16:creationId xmlns:a16="http://schemas.microsoft.com/office/drawing/2014/main" id="{FABDAE3B-2486-4A30-8AA2-1896A9297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3354"/>
              <a:ext cx="920" cy="617"/>
            </a:xfrm>
            <a:prstGeom prst="ellipse">
              <a:avLst/>
            </a:prstGeom>
            <a:solidFill>
              <a:srgbClr val="DEEBF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27">
              <a:extLst>
                <a:ext uri="{FF2B5EF4-FFF2-40B4-BE49-F238E27FC236}">
                  <a16:creationId xmlns:a16="http://schemas.microsoft.com/office/drawing/2014/main" id="{FA92A6FF-2092-40EA-962C-D1EE5968A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3354"/>
              <a:ext cx="920" cy="617"/>
            </a:xfrm>
            <a:prstGeom prst="ellipse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4150BE19-DCAB-4FBC-AC4C-DA263AAB5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560"/>
              <a:ext cx="5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.vhd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Oval 29">
              <a:extLst>
                <a:ext uri="{FF2B5EF4-FFF2-40B4-BE49-F238E27FC236}">
                  <a16:creationId xmlns:a16="http://schemas.microsoft.com/office/drawing/2014/main" id="{257E8953-0EEF-420A-BC74-85A752942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" y="3354"/>
              <a:ext cx="919" cy="617"/>
            </a:xfrm>
            <a:prstGeom prst="ellipse">
              <a:avLst/>
            </a:prstGeom>
            <a:solidFill>
              <a:srgbClr val="DEEBF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30">
              <a:extLst>
                <a:ext uri="{FF2B5EF4-FFF2-40B4-BE49-F238E27FC236}">
                  <a16:creationId xmlns:a16="http://schemas.microsoft.com/office/drawing/2014/main" id="{EA26CE77-D26C-432F-9AF3-1F58049E7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" y="3354"/>
              <a:ext cx="919" cy="617"/>
            </a:xfrm>
            <a:prstGeom prst="ellipse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Rectangle 31">
              <a:extLst>
                <a:ext uri="{FF2B5EF4-FFF2-40B4-BE49-F238E27FC236}">
                  <a16:creationId xmlns:a16="http://schemas.microsoft.com/office/drawing/2014/main" id="{334504A3-3C7D-479A-8092-6C90321D1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560"/>
              <a:ext cx="5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r>
                <a:rPr kumimoji="0" lang="zh-CN" altLang="zh-CN" sz="22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.</a:t>
              </a:r>
              <a:r>
                <a:rPr kumimoji="0" lang="en-US" altLang="zh-CN" sz="2200" b="1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bdf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Line 32">
              <a:extLst>
                <a:ext uri="{FF2B5EF4-FFF2-40B4-BE49-F238E27FC236}">
                  <a16:creationId xmlns:a16="http://schemas.microsoft.com/office/drawing/2014/main" id="{78124379-6908-4B92-A068-A61F55E57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7" y="3149"/>
              <a:ext cx="0" cy="124"/>
            </a:xfrm>
            <a:prstGeom prst="line">
              <a:avLst/>
            </a:prstGeom>
            <a:noFill/>
            <a:ln w="46038" cap="rnd">
              <a:solidFill>
                <a:srgbClr val="4672C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BCA01329-5D4B-41C1-B61F-F60FE994C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3248"/>
              <a:ext cx="105" cy="106"/>
            </a:xfrm>
            <a:custGeom>
              <a:avLst/>
              <a:gdLst>
                <a:gd name="T0" fmla="*/ 118 w 235"/>
                <a:gd name="T1" fmla="*/ 235 h 235"/>
                <a:gd name="T2" fmla="*/ 0 w 235"/>
                <a:gd name="T3" fmla="*/ 0 h 235"/>
                <a:gd name="T4" fmla="*/ 235 w 235"/>
                <a:gd name="T5" fmla="*/ 0 h 235"/>
                <a:gd name="T6" fmla="*/ 118 w 235"/>
                <a:gd name="T7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5" h="235">
                  <a:moveTo>
                    <a:pt x="118" y="235"/>
                  </a:moveTo>
                  <a:lnTo>
                    <a:pt x="0" y="0"/>
                  </a:lnTo>
                  <a:cubicBezTo>
                    <a:pt x="74" y="37"/>
                    <a:pt x="161" y="37"/>
                    <a:pt x="235" y="0"/>
                  </a:cubicBezTo>
                  <a:lnTo>
                    <a:pt x="118" y="235"/>
                  </a:lnTo>
                  <a:close/>
                </a:path>
              </a:pathLst>
            </a:custGeom>
            <a:solidFill>
              <a:srgbClr val="4672C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Line 36">
              <a:extLst>
                <a:ext uri="{FF2B5EF4-FFF2-40B4-BE49-F238E27FC236}">
                  <a16:creationId xmlns:a16="http://schemas.microsoft.com/office/drawing/2014/main" id="{5E9EBA35-2161-4A02-AA37-DD510F255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167"/>
              <a:ext cx="0" cy="125"/>
            </a:xfrm>
            <a:prstGeom prst="line">
              <a:avLst/>
            </a:prstGeom>
            <a:noFill/>
            <a:ln w="46038" cap="rnd">
              <a:solidFill>
                <a:srgbClr val="4672C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2184A3DD-4BA4-4631-91FE-BB1E6A229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3266"/>
              <a:ext cx="106" cy="107"/>
            </a:xfrm>
            <a:custGeom>
              <a:avLst/>
              <a:gdLst>
                <a:gd name="T0" fmla="*/ 118 w 236"/>
                <a:gd name="T1" fmla="*/ 236 h 236"/>
                <a:gd name="T2" fmla="*/ 0 w 236"/>
                <a:gd name="T3" fmla="*/ 0 h 236"/>
                <a:gd name="T4" fmla="*/ 236 w 236"/>
                <a:gd name="T5" fmla="*/ 0 h 236"/>
                <a:gd name="T6" fmla="*/ 118 w 236"/>
                <a:gd name="T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36">
                  <a:moveTo>
                    <a:pt x="118" y="236"/>
                  </a:moveTo>
                  <a:lnTo>
                    <a:pt x="0" y="0"/>
                  </a:lnTo>
                  <a:cubicBezTo>
                    <a:pt x="74" y="38"/>
                    <a:pt x="161" y="38"/>
                    <a:pt x="236" y="0"/>
                  </a:cubicBezTo>
                  <a:lnTo>
                    <a:pt x="118" y="236"/>
                  </a:lnTo>
                  <a:close/>
                </a:path>
              </a:pathLst>
            </a:custGeom>
            <a:solidFill>
              <a:srgbClr val="4672C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Line 38">
              <a:extLst>
                <a:ext uri="{FF2B5EF4-FFF2-40B4-BE49-F238E27FC236}">
                  <a16:creationId xmlns:a16="http://schemas.microsoft.com/office/drawing/2014/main" id="{F893CB4A-28DD-48AF-87BE-F7C2AC8FE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3149"/>
              <a:ext cx="0" cy="124"/>
            </a:xfrm>
            <a:prstGeom prst="line">
              <a:avLst/>
            </a:prstGeom>
            <a:noFill/>
            <a:ln w="46038" cap="rnd">
              <a:solidFill>
                <a:srgbClr val="4672C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23B1A4BE-8DA3-4D14-A4E1-9EDB40F11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3248"/>
              <a:ext cx="107" cy="106"/>
            </a:xfrm>
            <a:custGeom>
              <a:avLst/>
              <a:gdLst>
                <a:gd name="T0" fmla="*/ 118 w 236"/>
                <a:gd name="T1" fmla="*/ 235 h 235"/>
                <a:gd name="T2" fmla="*/ 0 w 236"/>
                <a:gd name="T3" fmla="*/ 0 h 235"/>
                <a:gd name="T4" fmla="*/ 236 w 236"/>
                <a:gd name="T5" fmla="*/ 0 h 235"/>
                <a:gd name="T6" fmla="*/ 118 w 236"/>
                <a:gd name="T7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6" h="235">
                  <a:moveTo>
                    <a:pt x="118" y="235"/>
                  </a:moveTo>
                  <a:lnTo>
                    <a:pt x="0" y="0"/>
                  </a:lnTo>
                  <a:cubicBezTo>
                    <a:pt x="74" y="37"/>
                    <a:pt x="162" y="37"/>
                    <a:pt x="236" y="0"/>
                  </a:cubicBezTo>
                  <a:lnTo>
                    <a:pt x="118" y="235"/>
                  </a:lnTo>
                  <a:close/>
                </a:path>
              </a:pathLst>
            </a:custGeom>
            <a:solidFill>
              <a:srgbClr val="4672C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6" name="Group 42">
            <a:extLst>
              <a:ext uri="{FF2B5EF4-FFF2-40B4-BE49-F238E27FC236}">
                <a16:creationId xmlns:a16="http://schemas.microsoft.com/office/drawing/2014/main" id="{EAB8632D-C681-43A4-BD90-9889C6F3D40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55875" y="1211263"/>
            <a:ext cx="4176713" cy="2133600"/>
            <a:chOff x="1610" y="763"/>
            <a:chExt cx="2631" cy="1344"/>
          </a:xfrm>
        </p:grpSpPr>
        <p:sp>
          <p:nvSpPr>
            <p:cNvPr id="47" name="AutoShape 41">
              <a:extLst>
                <a:ext uri="{FF2B5EF4-FFF2-40B4-BE49-F238E27FC236}">
                  <a16:creationId xmlns:a16="http://schemas.microsoft.com/office/drawing/2014/main" id="{D19B48D5-1E25-412D-B239-D4C03575CC9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10" y="763"/>
              <a:ext cx="2631" cy="1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BB16A392-69C4-498C-B73C-EBEE10D45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771"/>
              <a:ext cx="757" cy="572"/>
            </a:xfrm>
            <a:prstGeom prst="rect">
              <a:avLst/>
            </a:prstGeom>
            <a:solidFill>
              <a:srgbClr val="DEEB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44">
              <a:extLst>
                <a:ext uri="{FF2B5EF4-FFF2-40B4-BE49-F238E27FC236}">
                  <a16:creationId xmlns:a16="http://schemas.microsoft.com/office/drawing/2014/main" id="{EAA92672-0A90-47E2-A445-FE4E78453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771"/>
              <a:ext cx="757" cy="572"/>
            </a:xfrm>
            <a:prstGeom prst="rect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B2C4BCF1-4EF9-4015-87D2-B88BFEDEB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4" y="854"/>
              <a:ext cx="594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Project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6">
              <a:extLst>
                <a:ext uri="{FF2B5EF4-FFF2-40B4-BE49-F238E27FC236}">
                  <a16:creationId xmlns:a16="http://schemas.microsoft.com/office/drawing/2014/main" id="{B05B009C-1F09-478C-B788-4F41B8051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3" y="1069"/>
              <a:ext cx="253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总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Oval 47">
              <a:extLst>
                <a:ext uri="{FF2B5EF4-FFF2-40B4-BE49-F238E27FC236}">
                  <a16:creationId xmlns:a16="http://schemas.microsoft.com/office/drawing/2014/main" id="{80B5CA8C-56AC-45C5-98B7-E42B72F5C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1533"/>
              <a:ext cx="852" cy="572"/>
            </a:xfrm>
            <a:prstGeom prst="ellipse">
              <a:avLst/>
            </a:prstGeom>
            <a:solidFill>
              <a:srgbClr val="DEEBF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Oval 48">
              <a:extLst>
                <a:ext uri="{FF2B5EF4-FFF2-40B4-BE49-F238E27FC236}">
                  <a16:creationId xmlns:a16="http://schemas.microsoft.com/office/drawing/2014/main" id="{70532E57-0D47-463D-B09B-5A9C68C12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1533"/>
              <a:ext cx="852" cy="572"/>
            </a:xfrm>
            <a:prstGeom prst="ellipse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Rectangle 49">
              <a:extLst>
                <a:ext uri="{FF2B5EF4-FFF2-40B4-BE49-F238E27FC236}">
                  <a16:creationId xmlns:a16="http://schemas.microsoft.com/office/drawing/2014/main" id="{4EA7DEDD-FB4F-4CF2-B49A-3328A1008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722"/>
              <a:ext cx="58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V1.vhd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0C834D2A-77C5-4F3E-8DE3-D6D92CBDD4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6" y="1343"/>
              <a:ext cx="764" cy="174"/>
            </a:xfrm>
            <a:prstGeom prst="line">
              <a:avLst/>
            </a:prstGeom>
            <a:noFill/>
            <a:ln w="42863" cap="rnd">
              <a:solidFill>
                <a:srgbClr val="4672C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EC5E736B-1FA1-4FAC-A629-C3114C51D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1463"/>
              <a:ext cx="107" cy="96"/>
            </a:xfrm>
            <a:custGeom>
              <a:avLst/>
              <a:gdLst>
                <a:gd name="T0" fmla="*/ 0 w 255"/>
                <a:gd name="T1" fmla="*/ 167 h 230"/>
                <a:gd name="T2" fmla="*/ 203 w 255"/>
                <a:gd name="T3" fmla="*/ 0 h 230"/>
                <a:gd name="T4" fmla="*/ 255 w 255"/>
                <a:gd name="T5" fmla="*/ 230 h 230"/>
                <a:gd name="T6" fmla="*/ 0 w 255"/>
                <a:gd name="T7" fmla="*/ 167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230">
                  <a:moveTo>
                    <a:pt x="0" y="167"/>
                  </a:moveTo>
                  <a:lnTo>
                    <a:pt x="203" y="0"/>
                  </a:lnTo>
                  <a:cubicBezTo>
                    <a:pt x="184" y="81"/>
                    <a:pt x="203" y="166"/>
                    <a:pt x="255" y="230"/>
                  </a:cubicBezTo>
                  <a:lnTo>
                    <a:pt x="0" y="167"/>
                  </a:lnTo>
                  <a:close/>
                </a:path>
              </a:pathLst>
            </a:custGeom>
            <a:solidFill>
              <a:srgbClr val="4672C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Oval 52">
              <a:extLst>
                <a:ext uri="{FF2B5EF4-FFF2-40B4-BE49-F238E27FC236}">
                  <a16:creationId xmlns:a16="http://schemas.microsoft.com/office/drawing/2014/main" id="{FAC15422-24D9-4F4B-B54E-FF9FD12F1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1533"/>
              <a:ext cx="851" cy="572"/>
            </a:xfrm>
            <a:prstGeom prst="ellipse">
              <a:avLst/>
            </a:prstGeom>
            <a:solidFill>
              <a:srgbClr val="DEEBF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Oval 53">
              <a:extLst>
                <a:ext uri="{FF2B5EF4-FFF2-40B4-BE49-F238E27FC236}">
                  <a16:creationId xmlns:a16="http://schemas.microsoft.com/office/drawing/2014/main" id="{24D603E4-0AE1-4D17-B48B-BF20933F3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2" y="1533"/>
              <a:ext cx="851" cy="572"/>
            </a:xfrm>
            <a:prstGeom prst="ellipse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Rectangle 54">
              <a:extLst>
                <a:ext uri="{FF2B5EF4-FFF2-40B4-BE49-F238E27FC236}">
                  <a16:creationId xmlns:a16="http://schemas.microsoft.com/office/drawing/2014/main" id="{62C0BBA2-608F-46CF-ABC3-FCB910BC5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" y="1722"/>
              <a:ext cx="58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V2.vhd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Oval 55">
              <a:extLst>
                <a:ext uri="{FF2B5EF4-FFF2-40B4-BE49-F238E27FC236}">
                  <a16:creationId xmlns:a16="http://schemas.microsoft.com/office/drawing/2014/main" id="{1ADC40B2-C782-4959-AC0F-BAD75450A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1533"/>
              <a:ext cx="852" cy="572"/>
            </a:xfrm>
            <a:prstGeom prst="ellipse">
              <a:avLst/>
            </a:prstGeom>
            <a:solidFill>
              <a:srgbClr val="DEEBF6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Oval 56">
              <a:extLst>
                <a:ext uri="{FF2B5EF4-FFF2-40B4-BE49-F238E27FC236}">
                  <a16:creationId xmlns:a16="http://schemas.microsoft.com/office/drawing/2014/main" id="{21B56757-6854-465C-83CB-B1E546793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1533"/>
              <a:ext cx="852" cy="572"/>
            </a:xfrm>
            <a:prstGeom prst="ellipse">
              <a:avLst/>
            </a:prstGeom>
            <a:noFill/>
            <a:ln w="3175" cap="sq">
              <a:solidFill>
                <a:srgbClr val="C8C8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57">
              <a:extLst>
                <a:ext uri="{FF2B5EF4-FFF2-40B4-BE49-F238E27FC236}">
                  <a16:creationId xmlns:a16="http://schemas.microsoft.com/office/drawing/2014/main" id="{9721E05E-7047-460A-A39E-C52523C9E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722"/>
              <a:ext cx="47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V3.</a:t>
              </a:r>
              <a:r>
                <a:rPr kumimoji="0" lang="en-US" altLang="zh-CN" sz="2000" b="1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bdf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Line 58">
              <a:extLst>
                <a:ext uri="{FF2B5EF4-FFF2-40B4-BE49-F238E27FC236}">
                  <a16:creationId xmlns:a16="http://schemas.microsoft.com/office/drawing/2014/main" id="{0ED41273-4E41-473C-B565-2452E2CB9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3"/>
              <a:ext cx="29" cy="117"/>
            </a:xfrm>
            <a:prstGeom prst="line">
              <a:avLst/>
            </a:prstGeom>
            <a:noFill/>
            <a:ln w="42863" cap="rnd">
              <a:solidFill>
                <a:srgbClr val="4672C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9">
              <a:extLst>
                <a:ext uri="{FF2B5EF4-FFF2-40B4-BE49-F238E27FC236}">
                  <a16:creationId xmlns:a16="http://schemas.microsoft.com/office/drawing/2014/main" id="{CBCAC8D1-8BDE-4440-99DF-CC7BFA034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425"/>
              <a:ext cx="95" cy="108"/>
            </a:xfrm>
            <a:custGeom>
              <a:avLst/>
              <a:gdLst>
                <a:gd name="T0" fmla="*/ 171 w 228"/>
                <a:gd name="T1" fmla="*/ 257 h 257"/>
                <a:gd name="T2" fmla="*/ 0 w 228"/>
                <a:gd name="T3" fmla="*/ 57 h 257"/>
                <a:gd name="T4" fmla="*/ 228 w 228"/>
                <a:gd name="T5" fmla="*/ 0 h 257"/>
                <a:gd name="T6" fmla="*/ 171 w 228"/>
                <a:gd name="T7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8" h="257">
                  <a:moveTo>
                    <a:pt x="171" y="257"/>
                  </a:moveTo>
                  <a:lnTo>
                    <a:pt x="0" y="57"/>
                  </a:lnTo>
                  <a:cubicBezTo>
                    <a:pt x="81" y="75"/>
                    <a:pt x="165" y="54"/>
                    <a:pt x="228" y="0"/>
                  </a:cubicBezTo>
                  <a:lnTo>
                    <a:pt x="171" y="257"/>
                  </a:lnTo>
                  <a:close/>
                </a:path>
              </a:pathLst>
            </a:custGeom>
            <a:solidFill>
              <a:srgbClr val="4672C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Line 60">
              <a:extLst>
                <a:ext uri="{FF2B5EF4-FFF2-40B4-BE49-F238E27FC236}">
                  <a16:creationId xmlns:a16="http://schemas.microsoft.com/office/drawing/2014/main" id="{E9F6FF9E-BD75-43EA-9FB4-082F7ED56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43"/>
              <a:ext cx="858" cy="175"/>
            </a:xfrm>
            <a:prstGeom prst="line">
              <a:avLst/>
            </a:prstGeom>
            <a:noFill/>
            <a:ln w="42863" cap="rnd">
              <a:solidFill>
                <a:srgbClr val="4672C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61">
              <a:extLst>
                <a:ext uri="{FF2B5EF4-FFF2-40B4-BE49-F238E27FC236}">
                  <a16:creationId xmlns:a16="http://schemas.microsoft.com/office/drawing/2014/main" id="{F152881D-EC81-4D59-BB48-E54954B2F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4" y="1465"/>
              <a:ext cx="107" cy="97"/>
            </a:xfrm>
            <a:custGeom>
              <a:avLst/>
              <a:gdLst>
                <a:gd name="T0" fmla="*/ 255 w 255"/>
                <a:gd name="T1" fmla="*/ 162 h 231"/>
                <a:gd name="T2" fmla="*/ 0 w 255"/>
                <a:gd name="T3" fmla="*/ 231 h 231"/>
                <a:gd name="T4" fmla="*/ 47 w 255"/>
                <a:gd name="T5" fmla="*/ 0 h 231"/>
                <a:gd name="T6" fmla="*/ 255 w 255"/>
                <a:gd name="T7" fmla="*/ 162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231">
                  <a:moveTo>
                    <a:pt x="255" y="162"/>
                  </a:moveTo>
                  <a:lnTo>
                    <a:pt x="0" y="231"/>
                  </a:lnTo>
                  <a:cubicBezTo>
                    <a:pt x="52" y="166"/>
                    <a:pt x="69" y="80"/>
                    <a:pt x="47" y="0"/>
                  </a:cubicBezTo>
                  <a:lnTo>
                    <a:pt x="255" y="162"/>
                  </a:lnTo>
                  <a:close/>
                </a:path>
              </a:pathLst>
            </a:custGeom>
            <a:solidFill>
              <a:srgbClr val="4672C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447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注意事项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97C8C0-753E-44F7-AA81-EB9C0C712B1F}"/>
              </a:ext>
            </a:extLst>
          </p:cNvPr>
          <p:cNvSpPr txBox="1"/>
          <p:nvPr/>
        </p:nvSpPr>
        <p:spPr>
          <a:xfrm>
            <a:off x="467544" y="1124744"/>
            <a:ext cx="8136904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CASE 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语句，一定要写完整</a:t>
            </a:r>
            <a:endParaRPr lang="en-US" altLang="zh-CN" sz="20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：多个</a:t>
            </a:r>
            <a:r>
              <a:rPr lang="en-US" altLang="zh-CN" sz="2000" b="1" dirty="0" err="1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vhd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文件在一个工程里时，编译时需要将文件设置为顶层文件</a:t>
            </a:r>
            <a:endParaRPr lang="en-US" altLang="zh-CN" sz="20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确保实体名和工程名一致</a:t>
            </a:r>
            <a:endParaRPr lang="en-US" altLang="zh-CN" sz="20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Quartus II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软件对中英文敏感，尽量自己敲代码</a:t>
            </a:r>
            <a:endParaRPr lang="en-US" altLang="zh-CN" sz="20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solidFill>
                  <a:srgbClr val="02509B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endParaRPr lang="en-US" altLang="zh-CN" sz="2000" b="1" dirty="0">
              <a:solidFill>
                <a:srgbClr val="02509B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87BA8B-C5F7-4D1E-B140-5AE2656C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483955"/>
            <a:ext cx="6696743" cy="17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49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9EE054E-C673-211E-07DE-30714B962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998"/>
            <a:ext cx="9144000" cy="3652003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55573B1D-5854-74B0-55F2-C137111E7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1333323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94CEF6B2-C869-4815-94DA-F0CFBFF97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537075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  </a:t>
            </a:r>
            <a:r>
              <a:rPr lang="en-US" altLang="zh-CN" sz="2800" b="1" dirty="0">
                <a:solidFill>
                  <a:schemeClr val="bg1"/>
                </a:solidFill>
              </a:rPr>
              <a:t>VHDL</a:t>
            </a:r>
            <a:r>
              <a:rPr lang="zh-CN" altLang="en-US" sz="2800" b="1" dirty="0">
                <a:solidFill>
                  <a:schemeClr val="bg1"/>
                </a:solidFill>
              </a:rPr>
              <a:t>语言</a:t>
            </a:r>
            <a:r>
              <a:rPr lang="en-US" altLang="zh-CN" sz="2800" b="1" dirty="0">
                <a:solidFill>
                  <a:schemeClr val="bg1"/>
                </a:solidFill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</a:rPr>
              <a:t>注意事项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52722F-27F4-4544-A624-7731D3B9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268760"/>
            <a:ext cx="8165659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1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288258A-9CBA-7163-5D11-DB838BBE2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76200"/>
            <a:ext cx="6905625" cy="6705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15C88D7-139C-439C-91BC-04CD72EC5DDB}"/>
              </a:ext>
            </a:extLst>
          </p:cNvPr>
          <p:cNvSpPr txBox="1"/>
          <p:nvPr/>
        </p:nvSpPr>
        <p:spPr>
          <a:xfrm>
            <a:off x="7380312" y="4149080"/>
            <a:ext cx="16647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分频器不用波形仿真</a:t>
            </a:r>
          </a:p>
        </p:txBody>
      </p:sp>
    </p:spTree>
    <p:extLst>
      <p:ext uri="{BB962C8B-B14F-4D97-AF65-F5344CB8AC3E}">
        <p14:creationId xmlns:p14="http://schemas.microsoft.com/office/powerpoint/2010/main" val="1276530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9753</TotalTime>
  <Pages>0</Pages>
  <Words>290</Words>
  <Characters>0</Characters>
  <Application>Microsoft Office PowerPoint</Application>
  <DocSecurity>0</DocSecurity>
  <PresentationFormat>全屏显示(4:3)</PresentationFormat>
  <Lines>0</Lines>
  <Paragraphs>64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楷体</vt:lpstr>
      <vt:lpstr>宋体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Administrator</cp:lastModifiedBy>
  <cp:revision>888</cp:revision>
  <dcterms:created xsi:type="dcterms:W3CDTF">2016-01-05T00:40:52Z</dcterms:created>
  <dcterms:modified xsi:type="dcterms:W3CDTF">2023-05-22T01:50:50Z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2052-10.1.0.6382</vt:lpwstr>
  </property>
</Properties>
</file>