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342" r:id="rId3"/>
    <p:sldId id="389" r:id="rId4"/>
    <p:sldId id="394" r:id="rId5"/>
    <p:sldId id="477" r:id="rId6"/>
    <p:sldId id="472" r:id="rId7"/>
    <p:sldId id="393" r:id="rId8"/>
    <p:sldId id="479" r:id="rId9"/>
    <p:sldId id="387" r:id="rId1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02509B"/>
    <a:srgbClr val="7D3B05"/>
    <a:srgbClr val="0060A8"/>
    <a:srgbClr val="FFFF99"/>
    <a:srgbClr val="642F04"/>
    <a:srgbClr val="5C2C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6366" autoAdjust="0"/>
  </p:normalViewPr>
  <p:slideViewPr>
    <p:cSldViewPr>
      <p:cViewPr varScale="1">
        <p:scale>
          <a:sx n="113" d="100"/>
          <a:sy n="113" d="100"/>
        </p:scale>
        <p:origin x="222" y="102"/>
      </p:cViewPr>
      <p:guideLst>
        <p:guide orient="horz" pos="21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88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2CB89-4B05-4A85-A999-B39F95BABE18}" type="datetimeFigureOut">
              <a:rPr lang="zh-CN" altLang="en-US" smtClean="0"/>
              <a:pPr/>
              <a:t>2023/5/14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8BCB2-82C8-4B83-A32F-14ECBEE566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2553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29D7EDA-0295-406E-BA68-4D0790A961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597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901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时钟信号的产生：有源晶振、集成震动芯片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771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时钟信号的产生：有源晶振、集成震动芯片</a:t>
            </a:r>
            <a:endParaRPr lang="en-US" altLang="zh-CN" dirty="0"/>
          </a:p>
          <a:p>
            <a:r>
              <a:rPr lang="zh-CN" altLang="en-US" dirty="0"/>
              <a:t>宏函数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339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七段数码管，共阴极 共阳极</a:t>
            </a:r>
            <a:endParaRPr lang="en-US" altLang="zh-CN" dirty="0"/>
          </a:p>
          <a:p>
            <a:r>
              <a:rPr lang="zh-CN" altLang="en-US" dirty="0"/>
              <a:t>两种清零的方式</a:t>
            </a:r>
            <a:endParaRPr lang="en-US" altLang="zh-CN" dirty="0"/>
          </a:p>
          <a:p>
            <a:r>
              <a:rPr lang="en-US" altLang="zh-CN" dirty="0"/>
              <a:t>161 </a:t>
            </a:r>
            <a:r>
              <a:rPr lang="zh-CN" altLang="en-US" dirty="0"/>
              <a:t>异步清零</a:t>
            </a:r>
            <a:endParaRPr lang="en-US" altLang="zh-CN" dirty="0"/>
          </a:p>
          <a:p>
            <a:r>
              <a:rPr lang="en-US" altLang="zh-CN" dirty="0"/>
              <a:t>163 </a:t>
            </a:r>
            <a:r>
              <a:rPr lang="zh-CN" altLang="en-US" dirty="0"/>
              <a:t>同步清零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23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七段数码管，共阴极 共阳极</a:t>
            </a:r>
            <a:endParaRPr lang="en-US" altLang="zh-CN" dirty="0"/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对于共阴极数码管来说，当某个发光二极管的阳极为高电平时，发光二极管点亮，相应的段被显示。同样，共阳极数码管的阳极连接在一起，公共阳极接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+5V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，当某个发光二极管的阴极接低电平时，该发光二极管被点亮，相应的段被显示。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299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实体名和文件名一致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工程的建立，打开，工程的路径，名称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手动敲进去，不要粘贴，全码半码的问题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编译出现错误时，根据错误提示去百度一下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多练习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452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波形仿真问题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705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两种清零的方式</a:t>
            </a:r>
            <a:endParaRPr lang="en-US" altLang="zh-CN" dirty="0"/>
          </a:p>
          <a:p>
            <a:r>
              <a:rPr lang="en-US" altLang="zh-CN" dirty="0"/>
              <a:t>161 </a:t>
            </a:r>
            <a:r>
              <a:rPr lang="zh-CN" altLang="en-US" dirty="0"/>
              <a:t>异步清零</a:t>
            </a:r>
            <a:endParaRPr lang="en-US" altLang="zh-CN" dirty="0"/>
          </a:p>
          <a:p>
            <a:r>
              <a:rPr lang="en-US" altLang="zh-CN" dirty="0"/>
              <a:t>163 </a:t>
            </a:r>
            <a:r>
              <a:rPr lang="zh-CN" altLang="en-US" dirty="0"/>
              <a:t>同步清零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57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库存数据 4"/>
          <p:cNvSpPr/>
          <p:nvPr/>
        </p:nvSpPr>
        <p:spPr>
          <a:xfrm rot="3294886">
            <a:off x="5830094" y="5320506"/>
            <a:ext cx="1371600" cy="858838"/>
          </a:xfrm>
          <a:prstGeom prst="flowChartOnlineStorag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7" name="流程图: 库存数据 6"/>
          <p:cNvSpPr/>
          <p:nvPr/>
        </p:nvSpPr>
        <p:spPr>
          <a:xfrm rot="8191601">
            <a:off x="7854950" y="5559425"/>
            <a:ext cx="1371600" cy="379413"/>
          </a:xfrm>
          <a:prstGeom prst="flowChartOnlineStorag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733925" y="0"/>
            <a:ext cx="4086225" cy="73501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FontTx/>
              <a:buNone/>
              <a:defRPr/>
            </a:pPr>
            <a:endParaRPr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5307013" y="93663"/>
            <a:ext cx="3852862" cy="54768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auto">
              <a:spcAft>
                <a:spcPts val="0"/>
              </a:spcAft>
              <a:buFontTx/>
              <a:buNone/>
              <a:defRPr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372225" y="93663"/>
            <a:ext cx="2663825" cy="455612"/>
          </a:xfrm>
        </p:spPr>
        <p:txBody>
          <a:bodyPr>
            <a:noAutofit/>
          </a:bodyPr>
          <a:lstStyle>
            <a:lvl1pPr marL="0" indent="0">
              <a:buNone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-24"/>
            <a:ext cx="4618037" cy="793750"/>
            <a:chOff x="4525963" y="-12700"/>
            <a:chExt cx="4618037" cy="793750"/>
          </a:xfrm>
        </p:grpSpPr>
        <p:pic>
          <p:nvPicPr>
            <p:cNvPr id="6147" name="Picture 2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25963" y="-12700"/>
              <a:ext cx="4618037" cy="76358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6148" name="Picture 3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25963" y="692150"/>
              <a:ext cx="4616450" cy="88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8786844" y="0"/>
            <a:ext cx="357188" cy="688975"/>
            <a:chOff x="-4763" y="-3175"/>
            <a:chExt cx="357188" cy="688975"/>
          </a:xfrm>
        </p:grpSpPr>
        <p:pic>
          <p:nvPicPr>
            <p:cNvPr id="6149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-3175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0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141288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1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290513"/>
              <a:ext cx="357188" cy="77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2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444500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3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606425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9%80%BB%E8%BE%91%E9%97%A8%E7%94%B5%E8%B7%AF/600884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hyperlink" Target="https://baike.baidu.com/item/%E7%BB%84%E5%90%88%E7%94%B5%E8%B7%AF/483643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126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3" name="流程图: 过程 2"/>
          <p:cNvSpPr/>
          <p:nvPr/>
        </p:nvSpPr>
        <p:spPr>
          <a:xfrm>
            <a:off x="0" y="2493963"/>
            <a:ext cx="9144000" cy="1079500"/>
          </a:xfrm>
          <a:prstGeom prst="flowChartProcess">
            <a:avLst/>
          </a:prstGeom>
          <a:solidFill>
            <a:srgbClr val="0250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grpSp>
        <p:nvGrpSpPr>
          <p:cNvPr id="8196" name="组合 4"/>
          <p:cNvGrpSpPr>
            <a:grpSpLocks/>
          </p:cNvGrpSpPr>
          <p:nvPr/>
        </p:nvGrpSpPr>
        <p:grpSpPr bwMode="auto">
          <a:xfrm>
            <a:off x="0" y="5049838"/>
            <a:ext cx="547688" cy="827087"/>
            <a:chOff x="0" y="4943788"/>
            <a:chExt cx="546919" cy="827012"/>
          </a:xfrm>
        </p:grpSpPr>
        <p:pic>
          <p:nvPicPr>
            <p:cNvPr id="8201" name="Picture 8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4943788"/>
              <a:ext cx="546919" cy="108000"/>
            </a:xfrm>
            <a:prstGeom prst="rect">
              <a:avLst/>
            </a:prstGeom>
            <a:solidFill>
              <a:srgbClr val="02509B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8202" name="Picture 8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5302800"/>
              <a:ext cx="546919" cy="108000"/>
            </a:xfrm>
            <a:prstGeom prst="rect">
              <a:avLst/>
            </a:prstGeom>
            <a:solidFill>
              <a:srgbClr val="02509B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8203" name="Picture 8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5122800"/>
              <a:ext cx="546919" cy="108000"/>
            </a:xfrm>
            <a:prstGeom prst="rect">
              <a:avLst/>
            </a:prstGeom>
            <a:solidFill>
              <a:srgbClr val="02509B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8204" name="Picture 8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5482800"/>
              <a:ext cx="546919" cy="108000"/>
            </a:xfrm>
            <a:prstGeom prst="rect">
              <a:avLst/>
            </a:prstGeom>
            <a:solidFill>
              <a:srgbClr val="02509B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8205" name="Picture 8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5662800"/>
              <a:ext cx="546919" cy="108000"/>
            </a:xfrm>
            <a:prstGeom prst="rect">
              <a:avLst/>
            </a:prstGeom>
            <a:solidFill>
              <a:srgbClr val="02509B"/>
            </a:solidFill>
            <a:ln w="9525">
              <a:noFill/>
              <a:miter lim="800000"/>
              <a:headEnd/>
              <a:tailEnd/>
            </a:ln>
          </p:spPr>
        </p:pic>
      </p:grpSp>
      <p:sp>
        <p:nvSpPr>
          <p:cNvPr id="18" name="矩形 17"/>
          <p:cNvSpPr/>
          <p:nvPr/>
        </p:nvSpPr>
        <p:spPr>
          <a:xfrm>
            <a:off x="547688" y="2649676"/>
            <a:ext cx="8001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实验三 基于原理图的时序电路设计</a:t>
            </a:r>
            <a:endParaRPr lang="zh-CN" altLang="zh-CN" sz="4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2" y="-24"/>
            <a:ext cx="5846926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3438" y="1500174"/>
            <a:ext cx="4355414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/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实验基础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black">
          <a:xfrm>
            <a:off x="467544" y="836712"/>
            <a:ext cx="8676456" cy="16265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7013" tIns="38506" rIns="77013" bIns="38506">
            <a:spAutoFit/>
          </a:bodyPr>
          <a:lstStyle/>
          <a:p>
            <a:pPr marL="288925" indent="-288925" algn="just" defTabSz="-11682413" eaLnBrk="0" hangingPunct="0">
              <a:lnSpc>
                <a:spcPct val="130000"/>
              </a:lnSpc>
              <a:spcBef>
                <a:spcPct val="30000"/>
              </a:spcBef>
              <a:spcAft>
                <a:spcPct val="30000"/>
              </a:spcAft>
              <a:buClr>
                <a:schemeClr val="accent2"/>
              </a:buClr>
              <a:buSzPct val="85000"/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时序电路</a:t>
            </a:r>
            <a:r>
              <a:rPr lang="en-US" altLang="zh-CN" sz="32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—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时序电路，是由最基本的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  <a:hlinkClick r:id="rId3"/>
              </a:rPr>
              <a:t>逻辑门电路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加上反馈逻辑回路（输出到输入）或器件组合而成的电路，与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  <a:hlinkClick r:id="rId4"/>
              </a:rPr>
              <a:t>组合电路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最本质的区别在于时序电路具有记忆功能。</a:t>
            </a: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black">
          <a:xfrm>
            <a:off x="395288" y="2561723"/>
            <a:ext cx="8569325" cy="5930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7013" tIns="38506" rIns="77013" bIns="38506">
            <a:spAutoFit/>
          </a:bodyPr>
          <a:lstStyle/>
          <a:p>
            <a:pPr marL="288925" indent="-288925" algn="l" defTabSz="-11682413" eaLnBrk="0" hangingPunct="0">
              <a:lnSpc>
                <a:spcPct val="160000"/>
              </a:lnSpc>
              <a:spcBef>
                <a:spcPct val="0"/>
              </a:spcBef>
              <a:buClr>
                <a:schemeClr val="tx2"/>
              </a:buClr>
              <a:buSzPct val="85000"/>
              <a:buFont typeface="Wingdings" pitchFamily="2" charset="2"/>
              <a:buBlip>
                <a:blip r:embed="rId5"/>
              </a:buBlip>
              <a:defRPr/>
            </a:pP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特点：有时钟输入</a:t>
            </a:r>
            <a:endParaRPr lang="en-US" altLang="zh-CN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8B93F4-F894-4C1E-9BD2-633567046A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774" y="3405048"/>
            <a:ext cx="7332601" cy="456000"/>
          </a:xfrm>
          <a:prstGeom prst="rect">
            <a:avLst/>
          </a:prstGeom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0AB45E2E-1B13-4D3C-AAA3-6B29BD1270A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21109" y="4394703"/>
            <a:ext cx="8569325" cy="5930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7013" tIns="38506" rIns="77013" bIns="38506">
            <a:spAutoFit/>
          </a:bodyPr>
          <a:lstStyle/>
          <a:p>
            <a:pPr marL="288925" indent="-288925" algn="l" defTabSz="-11682413" eaLnBrk="0" hangingPunct="0">
              <a:lnSpc>
                <a:spcPct val="160000"/>
              </a:lnSpc>
              <a:spcBef>
                <a:spcPct val="0"/>
              </a:spcBef>
              <a:buClr>
                <a:schemeClr val="tx2"/>
              </a:buClr>
              <a:buSzPct val="85000"/>
              <a:buFont typeface="Wingdings" pitchFamily="2" charset="2"/>
              <a:buBlip>
                <a:blip r:embed="rId5"/>
              </a:buBlip>
              <a:defRPr/>
            </a:pP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DE0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50MHZ</a:t>
            </a:r>
          </a:p>
        </p:txBody>
      </p:sp>
    </p:spTree>
    <p:extLst>
      <p:ext uri="{BB962C8B-B14F-4D97-AF65-F5344CB8AC3E}">
        <p14:creationId xmlns:p14="http://schemas.microsoft.com/office/powerpoint/2010/main" val="3530408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8B93F4-F894-4C1E-9BD2-633567046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124744"/>
            <a:ext cx="7332601" cy="456000"/>
          </a:xfrm>
          <a:prstGeom prst="rect">
            <a:avLst/>
          </a:prstGeom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0AB45E2E-1B13-4D3C-AAA3-6B29BD1270A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58778" y="1788294"/>
            <a:ext cx="8569325" cy="5930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7013" tIns="38506" rIns="77013" bIns="38506">
            <a:spAutoFit/>
          </a:bodyPr>
          <a:lstStyle/>
          <a:p>
            <a:pPr marL="288925" indent="-288925" defTabSz="-11682413" eaLnBrk="0" hangingPunct="0">
              <a:lnSpc>
                <a:spcPct val="160000"/>
              </a:lnSpc>
              <a:buClr>
                <a:schemeClr val="tx2"/>
              </a:buClr>
              <a:buSzPct val="85000"/>
              <a:buBlip>
                <a:blip r:embed="rId4"/>
              </a:buBlip>
              <a:defRPr/>
            </a:pP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DE0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50MHZ                   1HZ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4E2C278-9A02-4FFF-AF81-9DFE8278F7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692185"/>
            <a:ext cx="4668505" cy="2611199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723A81D4-87C4-48CC-A545-2866A650595E}"/>
              </a:ext>
            </a:extLst>
          </p:cNvPr>
          <p:cNvSpPr/>
          <p:nvPr/>
        </p:nvSpPr>
        <p:spPr>
          <a:xfrm>
            <a:off x="3131840" y="1989735"/>
            <a:ext cx="973187" cy="30694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副标题 2">
            <a:extLst>
              <a:ext uri="{FF2B5EF4-FFF2-40B4-BE49-F238E27FC236}">
                <a16:creationId xmlns:a16="http://schemas.microsoft.com/office/drawing/2014/main" id="{6A79D98F-8B9B-42E3-A41C-66CCCAD27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实验原理（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254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627974F-2A2B-489A-946C-E4ED5A54A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54" y="836711"/>
            <a:ext cx="3677963" cy="5472608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26CF7313-8C60-4EC2-B445-72CC8B629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计数器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5EF58C-B894-4008-941A-5D8899833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740231"/>
            <a:ext cx="3807646" cy="566556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34D2D3D-0B57-4FD3-B1AF-98C184893B20}"/>
              </a:ext>
            </a:extLst>
          </p:cNvPr>
          <p:cNvSpPr/>
          <p:nvPr/>
        </p:nvSpPr>
        <p:spPr>
          <a:xfrm>
            <a:off x="3184394" y="6144190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清零方式不同</a:t>
            </a:r>
          </a:p>
        </p:txBody>
      </p:sp>
    </p:spTree>
    <p:extLst>
      <p:ext uri="{BB962C8B-B14F-4D97-AF65-F5344CB8AC3E}">
        <p14:creationId xmlns:p14="http://schemas.microsoft.com/office/powerpoint/2010/main" val="112616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0A6887D-A7F7-4A0F-829F-38BEDFB5A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292" y="2254101"/>
            <a:ext cx="9374583" cy="2349797"/>
          </a:xfrm>
          <a:prstGeom prst="rect">
            <a:avLst/>
          </a:prstGeom>
        </p:spPr>
      </p:pic>
      <p:sp>
        <p:nvSpPr>
          <p:cNvPr id="6" name="副标题 2">
            <a:extLst>
              <a:ext uri="{FF2B5EF4-FFF2-40B4-BE49-F238E27FC236}">
                <a16:creationId xmlns:a16="http://schemas.microsoft.com/office/drawing/2014/main" id="{0AB66D18-CB3B-437D-AAD8-42FFA0D15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计数器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B1A222-B48B-480C-8787-C9804CE622DE}"/>
              </a:ext>
            </a:extLst>
          </p:cNvPr>
          <p:cNvSpPr/>
          <p:nvPr/>
        </p:nvSpPr>
        <p:spPr>
          <a:xfrm>
            <a:off x="395536" y="1412776"/>
            <a:ext cx="21643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74161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功能表</a:t>
            </a:r>
          </a:p>
        </p:txBody>
      </p:sp>
    </p:spTree>
    <p:extLst>
      <p:ext uri="{BB962C8B-B14F-4D97-AF65-F5344CB8AC3E}">
        <p14:creationId xmlns:p14="http://schemas.microsoft.com/office/powerpoint/2010/main" val="53778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B80A4D-04F7-4842-920F-90A041E67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6" y="747921"/>
            <a:ext cx="4401018" cy="5201360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26CF7313-8C60-4EC2-B445-72CC8B629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数码管显示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525DDB-AC36-4F56-9E50-B4F3C9EAD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075" y="638249"/>
            <a:ext cx="4537076" cy="536215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1C29DCC-630A-4323-B2F0-90C217019E43}"/>
              </a:ext>
            </a:extLst>
          </p:cNvPr>
          <p:cNvSpPr/>
          <p:nvPr/>
        </p:nvSpPr>
        <p:spPr>
          <a:xfrm>
            <a:off x="3184394" y="6144190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共阴极、共阳极</a:t>
            </a:r>
          </a:p>
        </p:txBody>
      </p:sp>
    </p:spTree>
    <p:extLst>
      <p:ext uri="{BB962C8B-B14F-4D97-AF65-F5344CB8AC3E}">
        <p14:creationId xmlns:p14="http://schemas.microsoft.com/office/powerpoint/2010/main" val="130921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84F9BC1-36FC-4161-A84D-896A89988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672805"/>
            <a:ext cx="1584176" cy="28968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B156093-B368-495A-98E8-14F044BEC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764704"/>
            <a:ext cx="3096344" cy="486141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9C705C7-76D7-429C-9476-91A7804083B8}"/>
              </a:ext>
            </a:extLst>
          </p:cNvPr>
          <p:cNvSpPr/>
          <p:nvPr/>
        </p:nvSpPr>
        <p:spPr>
          <a:xfrm flipH="1">
            <a:off x="4211960" y="2060848"/>
            <a:ext cx="4608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1111001    0000110</a:t>
            </a:r>
            <a:endParaRPr lang="zh-CN" altLang="en-US" sz="36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B5B87C-9F30-43EB-AB99-A6DF53480722}"/>
              </a:ext>
            </a:extLst>
          </p:cNvPr>
          <p:cNvSpPr/>
          <p:nvPr/>
        </p:nvSpPr>
        <p:spPr>
          <a:xfrm flipH="1">
            <a:off x="4211960" y="1349639"/>
            <a:ext cx="4752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0</a:t>
            </a:r>
            <a:r>
              <a:rPr lang="zh-CN" altLang="en-US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1000000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0111111</a:t>
            </a:r>
            <a:endParaRPr lang="zh-CN" altLang="en-US" sz="3600" b="1" dirty="0">
              <a:solidFill>
                <a:srgbClr val="FF0000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4" name="副标题 2">
            <a:extLst>
              <a:ext uri="{FF2B5EF4-FFF2-40B4-BE49-F238E27FC236}">
                <a16:creationId xmlns:a16="http://schemas.microsoft.com/office/drawing/2014/main" id="{F30E0022-A27F-41EC-A474-E3F9EFD27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数码管显示</a:t>
            </a:r>
          </a:p>
        </p:txBody>
      </p:sp>
    </p:spTree>
    <p:extLst>
      <p:ext uri="{BB962C8B-B14F-4D97-AF65-F5344CB8AC3E}">
        <p14:creationId xmlns:p14="http://schemas.microsoft.com/office/powerpoint/2010/main" val="238846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标题 2">
            <a:extLst>
              <a:ext uri="{FF2B5EF4-FFF2-40B4-BE49-F238E27FC236}">
                <a16:creationId xmlns:a16="http://schemas.microsoft.com/office/drawing/2014/main" id="{45B565F6-640F-4A71-BEF2-97960C080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实验原理（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  <a:r>
              <a:rPr lang="zh-CN" altLang="en-US" sz="28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30C004-2260-48AD-9A55-E06C2D09B400}"/>
              </a:ext>
            </a:extLst>
          </p:cNvPr>
          <p:cNvSpPr/>
          <p:nvPr/>
        </p:nvSpPr>
        <p:spPr>
          <a:xfrm>
            <a:off x="107504" y="836712"/>
            <a:ext cx="87129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用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74161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二进制计数器、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7447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七段译码器和若干门电路，用原理图输入方法实现在一个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7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段数码管上显示序列：学号（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0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7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0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0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、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5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）。  </a:t>
            </a:r>
            <a:endParaRPr lang="en-US" altLang="zh-CN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5E2ED89-A48E-464E-B938-363F4141A01A}"/>
              </a:ext>
            </a:extLst>
          </p:cNvPr>
          <p:cNvSpPr/>
          <p:nvPr/>
        </p:nvSpPr>
        <p:spPr bwMode="auto">
          <a:xfrm>
            <a:off x="6332086" y="3336542"/>
            <a:ext cx="1656184" cy="1569660"/>
          </a:xfrm>
          <a:prstGeom prst="roundRect">
            <a:avLst/>
          </a:prstGeom>
          <a:gradFill flip="none" rotWithShape="1">
            <a:gsLst>
              <a:gs pos="0">
                <a:srgbClr val="009999">
                  <a:shade val="30000"/>
                  <a:satMod val="115000"/>
                </a:srgbClr>
              </a:gs>
              <a:gs pos="50000">
                <a:srgbClr val="009999">
                  <a:shade val="67500"/>
                  <a:satMod val="115000"/>
                </a:srgbClr>
              </a:gs>
              <a:gs pos="100000">
                <a:srgbClr val="009999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循环结果显示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7D4B067-9DFF-45C6-B188-4DD31C006195}"/>
              </a:ext>
            </a:extLst>
          </p:cNvPr>
          <p:cNvSpPr/>
          <p:nvPr/>
        </p:nvSpPr>
        <p:spPr bwMode="auto">
          <a:xfrm>
            <a:off x="3714645" y="2579533"/>
            <a:ext cx="1528124" cy="3083679"/>
          </a:xfrm>
          <a:prstGeom prst="roundRect">
            <a:avLst/>
          </a:prstGeom>
          <a:gradFill flip="none" rotWithShape="1">
            <a:gsLst>
              <a:gs pos="0">
                <a:srgbClr val="009999">
                  <a:shade val="30000"/>
                  <a:satMod val="115000"/>
                </a:srgbClr>
              </a:gs>
              <a:gs pos="50000">
                <a:srgbClr val="009999">
                  <a:shade val="67500"/>
                  <a:satMod val="115000"/>
                </a:srgbClr>
              </a:gs>
              <a:gs pos="100000">
                <a:srgbClr val="009999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计数器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BC6921A-A7A0-4509-A16E-E10908D8500B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 bwMode="auto">
          <a:xfrm flipV="1">
            <a:off x="5242769" y="4121372"/>
            <a:ext cx="1089317" cy="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AC1B71B-91AE-448E-97F3-ACD4F1B73FB5}"/>
              </a:ext>
            </a:extLst>
          </p:cNvPr>
          <p:cNvSpPr/>
          <p:nvPr/>
        </p:nvSpPr>
        <p:spPr bwMode="auto">
          <a:xfrm>
            <a:off x="1619672" y="2579533"/>
            <a:ext cx="1005656" cy="3083679"/>
          </a:xfrm>
          <a:prstGeom prst="roundRect">
            <a:avLst/>
          </a:prstGeom>
          <a:gradFill flip="none" rotWithShape="1">
            <a:gsLst>
              <a:gs pos="0">
                <a:srgbClr val="009999">
                  <a:shade val="30000"/>
                  <a:satMod val="115000"/>
                </a:srgbClr>
              </a:gs>
              <a:gs pos="50000">
                <a:srgbClr val="009999">
                  <a:shade val="67500"/>
                  <a:satMod val="115000"/>
                </a:srgbClr>
              </a:gs>
              <a:gs pos="100000">
                <a:srgbClr val="009999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脉冲产生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4134C6A-D0AA-4C16-8C2F-C8E5CB9FB590}"/>
              </a:ext>
            </a:extLst>
          </p:cNvPr>
          <p:cNvCxnSpPr>
            <a:cxnSpLocks/>
          </p:cNvCxnSpPr>
          <p:nvPr/>
        </p:nvCxnSpPr>
        <p:spPr bwMode="auto">
          <a:xfrm flipV="1">
            <a:off x="2627757" y="4117314"/>
            <a:ext cx="1089317" cy="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F9F480DC-E7E4-4200-A1E1-8E0FA25B798B}"/>
              </a:ext>
            </a:extLst>
          </p:cNvPr>
          <p:cNvSpPr/>
          <p:nvPr/>
        </p:nvSpPr>
        <p:spPr>
          <a:xfrm>
            <a:off x="4067944" y="5916188"/>
            <a:ext cx="39164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计数器                          七段数码管</a:t>
            </a:r>
            <a:endParaRPr lang="zh-CN" altLang="en-US" sz="2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E34641-5741-402D-80EC-6AB59342DBA6}"/>
              </a:ext>
            </a:extLst>
          </p:cNvPr>
          <p:cNvSpPr/>
          <p:nvPr/>
        </p:nvSpPr>
        <p:spPr>
          <a:xfrm>
            <a:off x="1681513" y="5910911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分频器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C112D5-3D1A-4934-9A18-FB0E23C5F60D}"/>
              </a:ext>
            </a:extLst>
          </p:cNvPr>
          <p:cNvSpPr/>
          <p:nvPr/>
        </p:nvSpPr>
        <p:spPr>
          <a:xfrm>
            <a:off x="5376055" y="3747982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译码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946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  <p:bldP spid="4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7DFA8A59-531C-43EE-9798-F9EF26B5D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实验原理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B244711-9FBC-4730-9C4D-D428DC419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893864"/>
              </p:ext>
            </p:extLst>
          </p:nvPr>
        </p:nvGraphicFramePr>
        <p:xfrm>
          <a:off x="971600" y="966936"/>
          <a:ext cx="73448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851">
                  <a:extLst>
                    <a:ext uri="{9D8B030D-6E8A-4147-A177-3AD203B41FA5}">
                      <a16:colId xmlns:a16="http://schemas.microsoft.com/office/drawing/2014/main" val="1510237219"/>
                    </a:ext>
                  </a:extLst>
                </a:gridCol>
                <a:gridCol w="826851">
                  <a:extLst>
                    <a:ext uri="{9D8B030D-6E8A-4147-A177-3AD203B41FA5}">
                      <a16:colId xmlns:a16="http://schemas.microsoft.com/office/drawing/2014/main" val="1106382405"/>
                    </a:ext>
                  </a:extLst>
                </a:gridCol>
                <a:gridCol w="826851">
                  <a:extLst>
                    <a:ext uri="{9D8B030D-6E8A-4147-A177-3AD203B41FA5}">
                      <a16:colId xmlns:a16="http://schemas.microsoft.com/office/drawing/2014/main" val="3494780191"/>
                    </a:ext>
                  </a:extLst>
                </a:gridCol>
                <a:gridCol w="826851">
                  <a:extLst>
                    <a:ext uri="{9D8B030D-6E8A-4147-A177-3AD203B41FA5}">
                      <a16:colId xmlns:a16="http://schemas.microsoft.com/office/drawing/2014/main" val="570632173"/>
                    </a:ext>
                  </a:extLst>
                </a:gridCol>
                <a:gridCol w="826851">
                  <a:extLst>
                    <a:ext uri="{9D8B030D-6E8A-4147-A177-3AD203B41FA5}">
                      <a16:colId xmlns:a16="http://schemas.microsoft.com/office/drawing/2014/main" val="508977450"/>
                    </a:ext>
                  </a:extLst>
                </a:gridCol>
                <a:gridCol w="826851">
                  <a:extLst>
                    <a:ext uri="{9D8B030D-6E8A-4147-A177-3AD203B41FA5}">
                      <a16:colId xmlns:a16="http://schemas.microsoft.com/office/drawing/2014/main" val="2295133255"/>
                    </a:ext>
                  </a:extLst>
                </a:gridCol>
                <a:gridCol w="826851">
                  <a:extLst>
                    <a:ext uri="{9D8B030D-6E8A-4147-A177-3AD203B41FA5}">
                      <a16:colId xmlns:a16="http://schemas.microsoft.com/office/drawing/2014/main" val="4053681875"/>
                    </a:ext>
                  </a:extLst>
                </a:gridCol>
                <a:gridCol w="697359">
                  <a:extLst>
                    <a:ext uri="{9D8B030D-6E8A-4147-A177-3AD203B41FA5}">
                      <a16:colId xmlns:a16="http://schemas.microsoft.com/office/drawing/2014/main" val="1714666403"/>
                    </a:ext>
                  </a:extLst>
                </a:gridCol>
                <a:gridCol w="859500">
                  <a:extLst>
                    <a:ext uri="{9D8B030D-6E8A-4147-A177-3AD203B41FA5}">
                      <a16:colId xmlns:a16="http://schemas.microsoft.com/office/drawing/2014/main" val="2371478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QD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QC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QB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QA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D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C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B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A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38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382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920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50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659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44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470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090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113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41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87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79839"/>
                  </a:ext>
                </a:extLst>
              </a:tr>
            </a:tbl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079638BC-9C91-46D5-ACCA-D18C1043AD1E}"/>
              </a:ext>
            </a:extLst>
          </p:cNvPr>
          <p:cNvGrpSpPr/>
          <p:nvPr/>
        </p:nvGrpSpPr>
        <p:grpSpPr>
          <a:xfrm>
            <a:off x="395535" y="1635947"/>
            <a:ext cx="576065" cy="4608512"/>
            <a:chOff x="179511" y="1124744"/>
            <a:chExt cx="576065" cy="5544616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F84D6E3-703D-4050-81CF-B2625E82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9512" y="6669360"/>
              <a:ext cx="576064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E89FC21-F53A-4E1C-B6BB-2E7E6860616F}"/>
                </a:ext>
              </a:extLst>
            </p:cNvPr>
            <p:cNvCxnSpPr/>
            <p:nvPr/>
          </p:nvCxnSpPr>
          <p:spPr>
            <a:xfrm flipV="1">
              <a:off x="179512" y="1124744"/>
              <a:ext cx="0" cy="5544616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82B17EB-66C4-4B47-81BE-CC684F06B010}"/>
                </a:ext>
              </a:extLst>
            </p:cNvPr>
            <p:cNvCxnSpPr/>
            <p:nvPr/>
          </p:nvCxnSpPr>
          <p:spPr>
            <a:xfrm>
              <a:off x="179511" y="1124744"/>
              <a:ext cx="43204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673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8128</TotalTime>
  <Pages>0</Pages>
  <Words>462</Words>
  <Characters>0</Characters>
  <Application>Microsoft Office PowerPoint</Application>
  <DocSecurity>0</DocSecurity>
  <PresentationFormat>全屏显示(4:3)</PresentationFormat>
  <Lines>0</Lines>
  <Paragraphs>154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楷体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Administrator</cp:lastModifiedBy>
  <cp:revision>855</cp:revision>
  <dcterms:created xsi:type="dcterms:W3CDTF">2016-01-05T00:40:52Z</dcterms:created>
  <dcterms:modified xsi:type="dcterms:W3CDTF">2023-05-14T12:07:11Z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2052-10.1.0.6382</vt:lpwstr>
  </property>
</Properties>
</file>