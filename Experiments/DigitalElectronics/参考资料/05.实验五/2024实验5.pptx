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355" r:id="rId2"/>
    <p:sldId id="384" r:id="rId3"/>
    <p:sldId id="482" r:id="rId4"/>
    <p:sldId id="484" r:id="rId5"/>
    <p:sldId id="485" r:id="rId6"/>
    <p:sldId id="486" r:id="rId7"/>
    <p:sldId id="483" r:id="rId8"/>
    <p:sldId id="489" r:id="rId9"/>
    <p:sldId id="488" r:id="rId10"/>
    <p:sldId id="487" r:id="rId11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509B"/>
    <a:srgbClr val="7D3B05"/>
    <a:srgbClr val="0060A8"/>
    <a:srgbClr val="FFFF99"/>
    <a:srgbClr val="404040"/>
    <a:srgbClr val="642F04"/>
    <a:srgbClr val="5C2C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84101" autoAdjust="0"/>
  </p:normalViewPr>
  <p:slideViewPr>
    <p:cSldViewPr>
      <p:cViewPr varScale="1">
        <p:scale>
          <a:sx n="95" d="100"/>
          <a:sy n="95" d="100"/>
        </p:scale>
        <p:origin x="552" y="84"/>
      </p:cViewPr>
      <p:guideLst>
        <p:guide orient="horz" pos="215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2880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52CB89-4B05-4A85-A999-B39F95BABE18}" type="datetimeFigureOut">
              <a:rPr lang="zh-CN" altLang="en-US" smtClean="0"/>
              <a:pPr/>
              <a:t>2023/5/29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28BCB2-82C8-4B83-A32F-14ECBEE566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32553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D29D7EDA-0295-406E-BA68-4D0790A961A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75970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98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B539985-1F1C-4FDC-B9A1-575107D9C1B3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23287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482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A8FF053-70FE-403A-95EA-18DFD74D14C5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4437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https://blog.csdn.net/struggle_for_m/article/details/51883916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29D7EDA-0295-406E-BA68-4D0790A961A0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2576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https://blog.csdn.net/struggle_for_m/article/details/51883916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29D7EDA-0295-406E-BA68-4D0790A961A0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70979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https://blog.csdn.net/struggle_for_m/article/details/51883916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29D7EDA-0295-406E-BA68-4D0790A961A0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3179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29D7EDA-0295-406E-BA68-4D0790A961A0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58249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https://blog.csdn.net/struggle_for_m/article/details/51883916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29D7EDA-0295-406E-BA68-4D0790A961A0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25793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482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A8FF053-70FE-403A-95EA-18DFD74D14C5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76721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800" b="0" i="0" u="none" strike="noStrike" baseline="0" dirty="0">
                <a:solidFill>
                  <a:srgbClr val="000081"/>
                </a:solidFill>
                <a:latin typeface="Times New Roman" panose="02020603050405020304" pitchFamily="18" charset="0"/>
              </a:rPr>
              <a:t>AD9708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29D7EDA-0295-406E-BA68-4D0790A961A0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0780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库存数据 4"/>
          <p:cNvSpPr/>
          <p:nvPr/>
        </p:nvSpPr>
        <p:spPr>
          <a:xfrm rot="3294886">
            <a:off x="5830094" y="5320506"/>
            <a:ext cx="1371600" cy="858838"/>
          </a:xfrm>
          <a:prstGeom prst="flowChartOnlineStorag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/>
          </a:p>
        </p:txBody>
      </p:sp>
      <p:sp>
        <p:nvSpPr>
          <p:cNvPr id="7" name="流程图: 库存数据 6"/>
          <p:cNvSpPr/>
          <p:nvPr/>
        </p:nvSpPr>
        <p:spPr>
          <a:xfrm rot="8191601">
            <a:off x="7854950" y="5559425"/>
            <a:ext cx="1371600" cy="379413"/>
          </a:xfrm>
          <a:prstGeom prst="flowChartOnlineStorag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4733925" y="0"/>
            <a:ext cx="4086225" cy="73501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FontTx/>
              <a:buNone/>
              <a:defRPr/>
            </a:pPr>
            <a:endParaRPr lang="zh-CN" altLang="en-US" dirty="0"/>
          </a:p>
        </p:txBody>
      </p:sp>
      <p:sp>
        <p:nvSpPr>
          <p:cNvPr id="9" name="标题 1"/>
          <p:cNvSpPr txBox="1"/>
          <p:nvPr/>
        </p:nvSpPr>
        <p:spPr>
          <a:xfrm>
            <a:off x="5307013" y="93663"/>
            <a:ext cx="3852862" cy="547687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fontAlgn="auto">
              <a:spcAft>
                <a:spcPts val="0"/>
              </a:spcAft>
              <a:buFontTx/>
              <a:buNone/>
              <a:defRPr/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6372225" y="93663"/>
            <a:ext cx="2663825" cy="455612"/>
          </a:xfrm>
        </p:spPr>
        <p:txBody>
          <a:bodyPr>
            <a:noAutofit/>
          </a:bodyPr>
          <a:lstStyle>
            <a:lvl1pPr marL="0" indent="0">
              <a:buNone/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文本占位符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0" y="-24"/>
            <a:ext cx="4618037" cy="793750"/>
            <a:chOff x="4525963" y="-12700"/>
            <a:chExt cx="4618037" cy="793750"/>
          </a:xfrm>
        </p:grpSpPr>
        <p:pic>
          <p:nvPicPr>
            <p:cNvPr id="6147" name="Picture 2"/>
            <p:cNvPicPr>
              <a:picLocks noChangeAspect="1" noChangeArrowheads="1"/>
            </p:cNvPicPr>
            <p:nvPr userDrawn="1"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525963" y="-12700"/>
              <a:ext cx="4618037" cy="763588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</p:pic>
        <p:pic>
          <p:nvPicPr>
            <p:cNvPr id="6148" name="Picture 3"/>
            <p:cNvPicPr>
              <a:picLocks noChangeAspect="1" noChangeArrowheads="1"/>
            </p:cNvPicPr>
            <p:nvPr userDrawn="1"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525963" y="692150"/>
              <a:ext cx="4616450" cy="88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2" name="组合 11"/>
          <p:cNvGrpSpPr/>
          <p:nvPr userDrawn="1"/>
        </p:nvGrpSpPr>
        <p:grpSpPr>
          <a:xfrm>
            <a:off x="8786844" y="0"/>
            <a:ext cx="357188" cy="688975"/>
            <a:chOff x="-4763" y="-3175"/>
            <a:chExt cx="357188" cy="688975"/>
          </a:xfrm>
        </p:grpSpPr>
        <p:pic>
          <p:nvPicPr>
            <p:cNvPr id="6149" name="Picture 7"/>
            <p:cNvPicPr>
              <a:picLocks noChangeAspect="1" noChangeArrowheads="1"/>
            </p:cNvPicPr>
            <p:nvPr userDrawn="1"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-4763" y="-3175"/>
              <a:ext cx="357188" cy="79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50" name="Picture 7"/>
            <p:cNvPicPr>
              <a:picLocks noChangeAspect="1" noChangeArrowheads="1"/>
            </p:cNvPicPr>
            <p:nvPr userDrawn="1"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-4763" y="141288"/>
              <a:ext cx="357188" cy="79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51" name="Picture 7"/>
            <p:cNvPicPr>
              <a:picLocks noChangeAspect="1" noChangeArrowheads="1"/>
            </p:cNvPicPr>
            <p:nvPr userDrawn="1"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-4763" y="290513"/>
              <a:ext cx="357188" cy="77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52" name="Picture 7"/>
            <p:cNvPicPr>
              <a:picLocks noChangeAspect="1" noChangeArrowheads="1"/>
            </p:cNvPicPr>
            <p:nvPr userDrawn="1"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-4763" y="444500"/>
              <a:ext cx="357188" cy="79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53" name="Picture 7"/>
            <p:cNvPicPr>
              <a:picLocks noChangeAspect="1" noChangeArrowheads="1"/>
            </p:cNvPicPr>
            <p:nvPr userDrawn="1"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-4763" y="606425"/>
              <a:ext cx="357188" cy="79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27649" name="Picture 1"/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714876" y="0"/>
            <a:ext cx="41021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cnblogs.com/chasing/p/3678625.html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矩形 1"/>
          <p:cNvSpPr>
            <a:spLocks noChangeArrowheads="1"/>
          </p:cNvSpPr>
          <p:nvPr/>
        </p:nvSpPr>
        <p:spPr bwMode="auto">
          <a:xfrm>
            <a:off x="0" y="2274888"/>
            <a:ext cx="9144000" cy="2016125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  <a:miter lim="800000"/>
            <a:headEnd/>
            <a:tailEnd/>
          </a:ln>
        </p:spPr>
        <p:txBody>
          <a:bodyPr anchor="ctr"/>
          <a:lstStyle/>
          <a:p>
            <a:pPr algn="ctr"/>
            <a:endParaRPr lang="zh-CN" altLang="en-US">
              <a:solidFill>
                <a:srgbClr val="B0252A"/>
              </a:solidFill>
            </a:endParaRPr>
          </a:p>
        </p:txBody>
      </p:sp>
      <p:sp>
        <p:nvSpPr>
          <p:cNvPr id="30724" name="直接连接符 3"/>
          <p:cNvSpPr>
            <a:spLocks noChangeShapeType="1"/>
          </p:cNvSpPr>
          <p:nvPr/>
        </p:nvSpPr>
        <p:spPr bwMode="auto">
          <a:xfrm>
            <a:off x="0" y="4506913"/>
            <a:ext cx="9144000" cy="1587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25" name="TextBox 4"/>
          <p:cNvSpPr>
            <a:spLocks noChangeArrowheads="1"/>
          </p:cNvSpPr>
          <p:nvPr/>
        </p:nvSpPr>
        <p:spPr bwMode="auto">
          <a:xfrm>
            <a:off x="-19137" y="2636912"/>
            <a:ext cx="9144000" cy="552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实验五 </a:t>
            </a:r>
            <a:r>
              <a:rPr lang="en-US" altLang="zh-CN" sz="4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ROM</a:t>
            </a:r>
          </a:p>
          <a:p>
            <a:pPr algn="ctr">
              <a:lnSpc>
                <a:spcPct val="150000"/>
              </a:lnSpc>
            </a:pPr>
            <a:endParaRPr lang="en-US" altLang="zh-CN" sz="40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ctr">
              <a:lnSpc>
                <a:spcPct val="150000"/>
              </a:lnSpc>
            </a:pPr>
            <a:endParaRPr lang="en-US" altLang="zh-CN" sz="40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4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</a:t>
            </a:r>
          </a:p>
          <a:p>
            <a:pPr algn="ctr">
              <a:lnSpc>
                <a:spcPct val="150000"/>
              </a:lnSpc>
            </a:pPr>
            <a:endParaRPr lang="en-US" altLang="zh-CN" sz="40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4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：</a:t>
            </a:r>
            <a:r>
              <a:rPr lang="en-US" altLang="zh-CN" sz="4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ROM</a:t>
            </a:r>
            <a:r>
              <a:rPr lang="zh-CN" altLang="en-US" sz="4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设计</a:t>
            </a:r>
            <a:endParaRPr lang="zh-CN" altLang="en-US" sz="40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9A01BB-6516-441B-9B62-0157EE3180FA}"/>
              </a:ext>
            </a:extLst>
          </p:cNvPr>
          <p:cNvSpPr/>
          <p:nvPr/>
        </p:nvSpPr>
        <p:spPr>
          <a:xfrm>
            <a:off x="0" y="44624"/>
            <a:ext cx="38683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数字电子技术基础实验</a:t>
            </a:r>
          </a:p>
        </p:txBody>
      </p:sp>
    </p:spTree>
    <p:extLst>
      <p:ext uri="{BB962C8B-B14F-4D97-AF65-F5344CB8AC3E}">
        <p14:creationId xmlns:p14="http://schemas.microsoft.com/office/powerpoint/2010/main" val="325016280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副标题 2"/>
          <p:cNvSpPr txBox="1">
            <a:spLocks noChangeArrowheads="1"/>
          </p:cNvSpPr>
          <p:nvPr/>
        </p:nvSpPr>
        <p:spPr bwMode="auto">
          <a:xfrm>
            <a:off x="0" y="27856"/>
            <a:ext cx="4537075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zh-CN" altLang="en-US" sz="2800" b="1" dirty="0">
                <a:solidFill>
                  <a:schemeClr val="bg1"/>
                </a:solidFill>
              </a:rPr>
              <a:t>预习内容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D27C377-3A32-4CB1-9C04-1582159AF728}"/>
              </a:ext>
            </a:extLst>
          </p:cNvPr>
          <p:cNvSpPr/>
          <p:nvPr/>
        </p:nvSpPr>
        <p:spPr>
          <a:xfrm>
            <a:off x="612639" y="1268760"/>
            <a:ext cx="7848872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配置宽度为</a:t>
            </a:r>
            <a:r>
              <a:rPr lang="en-US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4</a:t>
            </a:r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位的</a:t>
            </a:r>
            <a:r>
              <a:rPr lang="en-US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ROM</a:t>
            </a:r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，并在</a:t>
            </a:r>
            <a:r>
              <a:rPr lang="en-US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ROM</a:t>
            </a:r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中存储</a:t>
            </a:r>
            <a:r>
              <a:rPr lang="en-US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32</a:t>
            </a:r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个地址的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锯齿波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/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正弦波数</a:t>
            </a:r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据，利用系统时钟作为计数器计数脉冲，计数器输出作为地址读取</a:t>
            </a:r>
            <a:r>
              <a:rPr lang="en-US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ROM</a:t>
            </a:r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内容，将读取的数据通过波形仿真查看。</a:t>
            </a:r>
          </a:p>
          <a:p>
            <a:pPr>
              <a:spcAft>
                <a:spcPts val="0"/>
              </a:spcAft>
            </a:pPr>
            <a:endParaRPr lang="zh-CN" altLang="zh-CN" sz="2800" b="1" dirty="0">
              <a:solidFill>
                <a:srgbClr val="02509B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257790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副标题 2">
            <a:extLst>
              <a:ext uri="{FF2B5EF4-FFF2-40B4-BE49-F238E27FC236}">
                <a16:creationId xmlns:a16="http://schemas.microsoft.com/office/drawing/2014/main" id="{50B6166A-3D4B-421C-B5FB-321FC21038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7856"/>
            <a:ext cx="4537075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zh-CN" altLang="en-US" sz="2800" b="1" dirty="0">
                <a:solidFill>
                  <a:schemeClr val="bg1"/>
                </a:solidFill>
              </a:rPr>
              <a:t>      问题分析（二）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379B5A6-58B6-4A2C-9C12-D929F5FA3092}"/>
              </a:ext>
            </a:extLst>
          </p:cNvPr>
          <p:cNvGrpSpPr/>
          <p:nvPr/>
        </p:nvGrpSpPr>
        <p:grpSpPr>
          <a:xfrm>
            <a:off x="611560" y="3822599"/>
            <a:ext cx="6383300" cy="2708764"/>
            <a:chOff x="539552" y="2204864"/>
            <a:chExt cx="7344816" cy="2778053"/>
          </a:xfrm>
        </p:grpSpPr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AE9067C2-0A81-4310-B390-093E984E93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9552" y="2204864"/>
              <a:ext cx="7344816" cy="2778053"/>
            </a:xfrm>
            <a:prstGeom prst="rect">
              <a:avLst/>
            </a:prstGeom>
          </p:spPr>
        </p:pic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03DF9AAA-C283-4EA6-8D4D-ED98B954E5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80112" y="3505200"/>
              <a:ext cx="1944216" cy="752475"/>
            </a:xfrm>
            <a:prstGeom prst="rect">
              <a:avLst/>
            </a:prstGeom>
          </p:spPr>
        </p:pic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DEA135C1-0F27-40D9-9F82-1C9A0FFE1018}"/>
              </a:ext>
            </a:extLst>
          </p:cNvPr>
          <p:cNvSpPr/>
          <p:nvPr/>
        </p:nvSpPr>
        <p:spPr>
          <a:xfrm>
            <a:off x="323801" y="741173"/>
            <a:ext cx="263726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(1) MIF</a:t>
            </a:r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文件</a:t>
            </a:r>
            <a:endParaRPr lang="en-US" altLang="zh-CN" sz="2400" b="1" dirty="0">
              <a:solidFill>
                <a:srgbClr val="02509B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宽度为</a:t>
            </a:r>
            <a:r>
              <a:rPr lang="en-US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4</a:t>
            </a:r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位的</a:t>
            </a:r>
            <a:r>
              <a:rPr lang="en-US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ROM</a:t>
            </a:r>
            <a:endParaRPr lang="zh-CN" altLang="en-US" sz="2400" b="1" dirty="0">
              <a:solidFill>
                <a:srgbClr val="02509B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6B3C525-E220-40BA-9190-7B339E7AC72E}"/>
              </a:ext>
            </a:extLst>
          </p:cNvPr>
          <p:cNvSpPr/>
          <p:nvPr/>
        </p:nvSpPr>
        <p:spPr>
          <a:xfrm>
            <a:off x="469935" y="1484784"/>
            <a:ext cx="17988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2^(width) -1 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2123656-207E-4383-8DED-D7D9FE9AABE2}"/>
              </a:ext>
            </a:extLst>
          </p:cNvPr>
          <p:cNvSpPr/>
          <p:nvPr/>
        </p:nvSpPr>
        <p:spPr>
          <a:xfrm>
            <a:off x="455776" y="1958193"/>
            <a:ext cx="30401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Width=4  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，值：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0~15</a:t>
            </a:r>
            <a:endParaRPr lang="zh-CN" altLang="en-US" sz="2400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F766DA7-656B-4F53-86A9-9A0F477444FD}"/>
              </a:ext>
            </a:extLst>
          </p:cNvPr>
          <p:cNvSpPr/>
          <p:nvPr/>
        </p:nvSpPr>
        <p:spPr>
          <a:xfrm>
            <a:off x="368305" y="2465074"/>
            <a:ext cx="402866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并在</a:t>
            </a:r>
            <a:r>
              <a:rPr lang="en-US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ROM</a:t>
            </a:r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中存储</a:t>
            </a:r>
            <a:r>
              <a:rPr lang="en-US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32</a:t>
            </a:r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个地址的</a:t>
            </a:r>
            <a:endParaRPr lang="en-US" altLang="zh-CN" sz="2400" b="1" dirty="0">
              <a:solidFill>
                <a:srgbClr val="02509B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锯齿波数据</a:t>
            </a:r>
            <a:endParaRPr lang="zh-CN" altLang="en-US" sz="2400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69932E3-3D7D-4918-A757-2AFDA072A143}"/>
              </a:ext>
            </a:extLst>
          </p:cNvPr>
          <p:cNvSpPr/>
          <p:nvPr/>
        </p:nvSpPr>
        <p:spPr>
          <a:xfrm>
            <a:off x="337960" y="3297377"/>
            <a:ext cx="39990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深度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，地址：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00000~11111</a:t>
            </a:r>
            <a:endParaRPr lang="zh-CN" altLang="en-US" sz="2400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8DCC679-0D3E-45AC-9809-E5BA77E89D5C}"/>
              </a:ext>
            </a:extLst>
          </p:cNvPr>
          <p:cNvSpPr/>
          <p:nvPr/>
        </p:nvSpPr>
        <p:spPr>
          <a:xfrm>
            <a:off x="5122652" y="821374"/>
            <a:ext cx="374441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(2) </a:t>
            </a:r>
            <a:r>
              <a:rPr lang="zh-CN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然后在</a:t>
            </a:r>
            <a:r>
              <a:rPr lang="en-US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Quartus</a:t>
            </a:r>
            <a:r>
              <a:rPr lang="zh-CN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下利用</a:t>
            </a:r>
            <a:r>
              <a:rPr lang="en-US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MATLAB</a:t>
            </a:r>
            <a:r>
              <a:rPr lang="zh-CN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生成的数据编写一个单口</a:t>
            </a:r>
            <a:r>
              <a:rPr lang="en-US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ROM</a:t>
            </a:r>
            <a:r>
              <a:rPr lang="zh-CN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，并且生成对应的</a:t>
            </a:r>
            <a:r>
              <a:rPr lang="en-US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.VHD</a:t>
            </a:r>
            <a:r>
              <a:rPr lang="zh-CN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文件，即</a:t>
            </a:r>
            <a:r>
              <a:rPr lang="en-US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ROM</a:t>
            </a:r>
            <a:r>
              <a:rPr lang="zh-CN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模块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04257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副标题 2">
            <a:extLst>
              <a:ext uri="{FF2B5EF4-FFF2-40B4-BE49-F238E27FC236}">
                <a16:creationId xmlns:a16="http://schemas.microsoft.com/office/drawing/2014/main" id="{50B6166A-3D4B-421C-B5FB-321FC21038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7856"/>
            <a:ext cx="4537075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zh-CN" altLang="en-US" sz="2800" b="1" dirty="0">
                <a:solidFill>
                  <a:schemeClr val="bg1"/>
                </a:solidFill>
              </a:rPr>
              <a:t>      问题分析（二）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A405AA7-2AFA-468F-BA9E-A18532510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820121"/>
            <a:ext cx="6624736" cy="326927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BDA395B-45F2-4DF3-A6D7-D1C372075D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223" y="814970"/>
            <a:ext cx="2177329" cy="3406118"/>
          </a:xfrm>
          <a:prstGeom prst="rect">
            <a:avLst/>
          </a:prstGeom>
        </p:spPr>
      </p:pic>
      <p:sp>
        <p:nvSpPr>
          <p:cNvPr id="4" name="箭头: 右 3">
            <a:extLst>
              <a:ext uri="{FF2B5EF4-FFF2-40B4-BE49-F238E27FC236}">
                <a16:creationId xmlns:a16="http://schemas.microsoft.com/office/drawing/2014/main" id="{D7F62BFC-E799-4E39-BCBF-92E85338E0A0}"/>
              </a:ext>
            </a:extLst>
          </p:cNvPr>
          <p:cNvSpPr/>
          <p:nvPr/>
        </p:nvSpPr>
        <p:spPr>
          <a:xfrm>
            <a:off x="4932040" y="1916832"/>
            <a:ext cx="1440160" cy="6480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D6419CD-5BE6-43E4-BD55-FDB03129BE68}"/>
              </a:ext>
            </a:extLst>
          </p:cNvPr>
          <p:cNvSpPr/>
          <p:nvPr/>
        </p:nvSpPr>
        <p:spPr>
          <a:xfrm>
            <a:off x="1224421" y="4403242"/>
            <a:ext cx="208823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 err="1">
                <a:solidFill>
                  <a:srgbClr val="C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Matlab</a:t>
            </a:r>
            <a:endParaRPr lang="zh-CN" altLang="en-US" sz="32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D16ECD2-E861-436E-808A-991E7140EAA2}"/>
              </a:ext>
            </a:extLst>
          </p:cNvPr>
          <p:cNvSpPr/>
          <p:nvPr/>
        </p:nvSpPr>
        <p:spPr>
          <a:xfrm>
            <a:off x="7127170" y="4372465"/>
            <a:ext cx="10823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b="1" dirty="0">
                <a:solidFill>
                  <a:srgbClr val="C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MIF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783663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副标题 2">
            <a:extLst>
              <a:ext uri="{FF2B5EF4-FFF2-40B4-BE49-F238E27FC236}">
                <a16:creationId xmlns:a16="http://schemas.microsoft.com/office/drawing/2014/main" id="{50B6166A-3D4B-421C-B5FB-321FC21038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7856"/>
            <a:ext cx="4537075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zh-CN" altLang="en-US" sz="2800" b="1" dirty="0">
                <a:solidFill>
                  <a:schemeClr val="bg1"/>
                </a:solidFill>
              </a:rPr>
              <a:t>      问题分析（二）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1648C2D-ED46-4A81-8C37-116744664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337892"/>
            <a:ext cx="7200900" cy="638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460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2">
            <a:extLst>
              <a:ext uri="{FF2B5EF4-FFF2-40B4-BE49-F238E27FC236}">
                <a16:creationId xmlns:a16="http://schemas.microsoft.com/office/drawing/2014/main" id="{60A64388-B50B-432F-A735-7AB084C70D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7856"/>
            <a:ext cx="4537075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zh-CN" altLang="en-US" sz="2800" b="1" dirty="0">
                <a:solidFill>
                  <a:schemeClr val="bg1"/>
                </a:solidFill>
              </a:rPr>
              <a:t>      问题分析（二）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AEDDFD8-7893-4E31-921E-A87109832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764704"/>
            <a:ext cx="2177329" cy="340611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1EBD2F8-ACCF-4B53-AD1B-1AEE2DAAAF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53136"/>
            <a:ext cx="9144000" cy="111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970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副标题 2">
            <a:extLst>
              <a:ext uri="{FF2B5EF4-FFF2-40B4-BE49-F238E27FC236}">
                <a16:creationId xmlns:a16="http://schemas.microsoft.com/office/drawing/2014/main" id="{50B6166A-3D4B-421C-B5FB-321FC21038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7856"/>
            <a:ext cx="4537075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zh-CN" altLang="en-US" sz="2800" b="1" dirty="0">
                <a:solidFill>
                  <a:schemeClr val="bg1"/>
                </a:solidFill>
              </a:rPr>
              <a:t>      问题分析（二）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19DB0A5-EF9F-4EF2-BF0E-60D5AD8F3576}"/>
              </a:ext>
            </a:extLst>
          </p:cNvPr>
          <p:cNvGrpSpPr/>
          <p:nvPr/>
        </p:nvGrpSpPr>
        <p:grpSpPr>
          <a:xfrm>
            <a:off x="5508103" y="3207938"/>
            <a:ext cx="3574095" cy="1152128"/>
            <a:chOff x="3158145" y="2276872"/>
            <a:chExt cx="3574095" cy="1152128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8B87C491-79AD-48AC-B1EF-27EF4DB8E348}"/>
                </a:ext>
              </a:extLst>
            </p:cNvPr>
            <p:cNvSpPr/>
            <p:nvPr/>
          </p:nvSpPr>
          <p:spPr>
            <a:xfrm>
              <a:off x="3851920" y="2276872"/>
              <a:ext cx="1872208" cy="115212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</a:rPr>
                <a:t>ROM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7B051D42-84EB-4439-8660-061B9F59DB2A}"/>
                </a:ext>
              </a:extLst>
            </p:cNvPr>
            <p:cNvCxnSpPr>
              <a:cxnSpLocks/>
            </p:cNvCxnSpPr>
            <p:nvPr/>
          </p:nvCxnSpPr>
          <p:spPr>
            <a:xfrm>
              <a:off x="3261020" y="2420888"/>
              <a:ext cx="5909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C31281E6-DF6D-46AF-B372-6051F4EC19C1}"/>
                </a:ext>
              </a:extLst>
            </p:cNvPr>
            <p:cNvCxnSpPr>
              <a:cxnSpLocks/>
            </p:cNvCxnSpPr>
            <p:nvPr/>
          </p:nvCxnSpPr>
          <p:spPr>
            <a:xfrm>
              <a:off x="3261020" y="3140968"/>
              <a:ext cx="5909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89940476-9C90-4CE3-B9D2-9CF4E9E7F39A}"/>
                </a:ext>
              </a:extLst>
            </p:cNvPr>
            <p:cNvCxnSpPr/>
            <p:nvPr/>
          </p:nvCxnSpPr>
          <p:spPr>
            <a:xfrm>
              <a:off x="5724128" y="2780928"/>
              <a:ext cx="1008112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33513D8-8D53-47F3-B3D9-1AD44E7CB6C4}"/>
                </a:ext>
              </a:extLst>
            </p:cNvPr>
            <p:cNvSpPr/>
            <p:nvPr/>
          </p:nvSpPr>
          <p:spPr>
            <a:xfrm>
              <a:off x="3158145" y="2340749"/>
              <a:ext cx="157466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2509B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address[4..0]</a:t>
              </a:r>
              <a:endParaRPr lang="zh-CN" altLang="en-US" sz="2000" dirty="0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8B42248B-01A7-4D85-A176-78D501D91190}"/>
                </a:ext>
              </a:extLst>
            </p:cNvPr>
            <p:cNvSpPr/>
            <p:nvPr/>
          </p:nvSpPr>
          <p:spPr>
            <a:xfrm>
              <a:off x="3176180" y="2769801"/>
              <a:ext cx="51167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 err="1">
                  <a:solidFill>
                    <a:srgbClr val="02509B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clk</a:t>
              </a:r>
              <a:endParaRPr lang="zh-CN" altLang="en-US" sz="2000" dirty="0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080E8DAA-368D-49BA-B1AC-47404FACFEEE}"/>
                </a:ext>
              </a:extLst>
            </p:cNvPr>
            <p:cNvSpPr/>
            <p:nvPr/>
          </p:nvSpPr>
          <p:spPr>
            <a:xfrm>
              <a:off x="5688161" y="2378751"/>
              <a:ext cx="89639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2509B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P[3..0]</a:t>
              </a:r>
              <a:endParaRPr lang="zh-CN" altLang="en-US" sz="2000" dirty="0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E6FF2D8E-19B8-44CC-9DB2-9A871AE2E93C}"/>
              </a:ext>
            </a:extLst>
          </p:cNvPr>
          <p:cNvGrpSpPr/>
          <p:nvPr/>
        </p:nvGrpSpPr>
        <p:grpSpPr>
          <a:xfrm>
            <a:off x="0" y="2795128"/>
            <a:ext cx="3115413" cy="831632"/>
            <a:chOff x="2481779" y="2231984"/>
            <a:chExt cx="4159087" cy="1197016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6A3B336A-DC4B-4AB3-8251-9F3C881216EC}"/>
                </a:ext>
              </a:extLst>
            </p:cNvPr>
            <p:cNvSpPr/>
            <p:nvPr/>
          </p:nvSpPr>
          <p:spPr>
            <a:xfrm>
              <a:off x="3851920" y="2276872"/>
              <a:ext cx="1872208" cy="115212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solidFill>
                    <a:schemeClr val="tx1"/>
                  </a:solidFill>
                </a:rPr>
                <a:t>分频</a:t>
              </a:r>
            </a:p>
          </p:txBody>
        </p: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C8F3181B-F847-4B2B-9E0B-7B66B2D99267}"/>
                </a:ext>
              </a:extLst>
            </p:cNvPr>
            <p:cNvCxnSpPr/>
            <p:nvPr/>
          </p:nvCxnSpPr>
          <p:spPr>
            <a:xfrm>
              <a:off x="2843808" y="2780928"/>
              <a:ext cx="1008112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AC7746AA-E611-4668-9953-EFF66DDF6D05}"/>
                </a:ext>
              </a:extLst>
            </p:cNvPr>
            <p:cNvCxnSpPr>
              <a:cxnSpLocks/>
            </p:cNvCxnSpPr>
            <p:nvPr/>
          </p:nvCxnSpPr>
          <p:spPr>
            <a:xfrm>
              <a:off x="5724128" y="2780928"/>
              <a:ext cx="412682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756BA025-5F77-4A59-B53B-C6FDB8B993D9}"/>
                </a:ext>
              </a:extLst>
            </p:cNvPr>
            <p:cNvSpPr/>
            <p:nvPr/>
          </p:nvSpPr>
          <p:spPr>
            <a:xfrm>
              <a:off x="2481779" y="2231984"/>
              <a:ext cx="105349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2509B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50MHZ</a:t>
              </a:r>
              <a:endParaRPr lang="zh-CN" altLang="en-US" sz="2000" dirty="0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EFE6A202-436B-4B59-902E-6127146FD9FD}"/>
                </a:ext>
              </a:extLst>
            </p:cNvPr>
            <p:cNvSpPr/>
            <p:nvPr/>
          </p:nvSpPr>
          <p:spPr>
            <a:xfrm>
              <a:off x="5632754" y="2250264"/>
              <a:ext cx="1008112" cy="57590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000" b="1" dirty="0">
                  <a:solidFill>
                    <a:srgbClr val="02509B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1HZ</a:t>
              </a:r>
              <a:endParaRPr lang="zh-CN" altLang="en-US" sz="2000" dirty="0"/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25BD69A8-1E46-4817-86A6-F31AE844E360}"/>
              </a:ext>
            </a:extLst>
          </p:cNvPr>
          <p:cNvGrpSpPr/>
          <p:nvPr/>
        </p:nvGrpSpPr>
        <p:grpSpPr>
          <a:xfrm>
            <a:off x="3153699" y="1124745"/>
            <a:ext cx="2354404" cy="1243304"/>
            <a:chOff x="3026162" y="1956343"/>
            <a:chExt cx="3562293" cy="1472657"/>
          </a:xfrm>
        </p:grpSpPr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0D279D93-3B4B-4855-AD5D-30F6BD7ABD5D}"/>
                </a:ext>
              </a:extLst>
            </p:cNvPr>
            <p:cNvSpPr/>
            <p:nvPr/>
          </p:nvSpPr>
          <p:spPr>
            <a:xfrm>
              <a:off x="3851920" y="2276872"/>
              <a:ext cx="1872208" cy="115212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solidFill>
                    <a:schemeClr val="tx1"/>
                  </a:solidFill>
                </a:rPr>
                <a:t>计数</a:t>
              </a:r>
            </a:p>
          </p:txBody>
        </p: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0DE3D56A-779F-4E03-8981-C8E020D9A3A2}"/>
                </a:ext>
              </a:extLst>
            </p:cNvPr>
            <p:cNvCxnSpPr>
              <a:cxnSpLocks/>
            </p:cNvCxnSpPr>
            <p:nvPr/>
          </p:nvCxnSpPr>
          <p:spPr>
            <a:xfrm>
              <a:off x="3270676" y="2420888"/>
              <a:ext cx="5812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545257C8-BF21-4CCA-9BAD-D90B55C0DEB4}"/>
                </a:ext>
              </a:extLst>
            </p:cNvPr>
            <p:cNvCxnSpPr>
              <a:cxnSpLocks/>
            </p:cNvCxnSpPr>
            <p:nvPr/>
          </p:nvCxnSpPr>
          <p:spPr>
            <a:xfrm>
              <a:off x="3270676" y="3140968"/>
              <a:ext cx="5812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0F514A1D-008F-4ADF-9315-A7869A554349}"/>
                </a:ext>
              </a:extLst>
            </p:cNvPr>
            <p:cNvCxnSpPr>
              <a:cxnSpLocks/>
            </p:cNvCxnSpPr>
            <p:nvPr/>
          </p:nvCxnSpPr>
          <p:spPr>
            <a:xfrm>
              <a:off x="5724128" y="2780928"/>
              <a:ext cx="73596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02E29476-7332-4E7A-BD64-0C6135B4CB72}"/>
                </a:ext>
              </a:extLst>
            </p:cNvPr>
            <p:cNvSpPr/>
            <p:nvPr/>
          </p:nvSpPr>
          <p:spPr>
            <a:xfrm>
              <a:off x="3102038" y="1956343"/>
              <a:ext cx="482824" cy="4001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 err="1">
                  <a:solidFill>
                    <a:srgbClr val="02509B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clr</a:t>
              </a:r>
              <a:endParaRPr lang="zh-CN" altLang="en-US" sz="2000" dirty="0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B63ACA33-9158-45DA-A7EC-1B3070F41213}"/>
                </a:ext>
              </a:extLst>
            </p:cNvPr>
            <p:cNvSpPr/>
            <p:nvPr/>
          </p:nvSpPr>
          <p:spPr>
            <a:xfrm>
              <a:off x="3026162" y="2723964"/>
              <a:ext cx="511679" cy="4001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 err="1">
                  <a:solidFill>
                    <a:srgbClr val="02509B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clk</a:t>
              </a:r>
              <a:endParaRPr lang="zh-CN" altLang="en-US" sz="2000" dirty="0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0B63B170-55E3-49CA-9CE0-7A7CE6284EF7}"/>
                </a:ext>
              </a:extLst>
            </p:cNvPr>
            <p:cNvSpPr/>
            <p:nvPr/>
          </p:nvSpPr>
          <p:spPr>
            <a:xfrm>
              <a:off x="5692056" y="2391963"/>
              <a:ext cx="89639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2509B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q[4..0]</a:t>
              </a:r>
              <a:endParaRPr lang="zh-CN" altLang="en-US" sz="2000" dirty="0"/>
            </a:p>
          </p:txBody>
        </p:sp>
      </p:grpSp>
      <p:cxnSp>
        <p:nvCxnSpPr>
          <p:cNvPr id="53" name="连接符: 肘形 52">
            <a:extLst>
              <a:ext uri="{FF2B5EF4-FFF2-40B4-BE49-F238E27FC236}">
                <a16:creationId xmlns:a16="http://schemas.microsoft.com/office/drawing/2014/main" id="{DCF92370-CD5F-4D10-A078-4E7200A6C872}"/>
              </a:ext>
            </a:extLst>
          </p:cNvPr>
          <p:cNvCxnSpPr/>
          <p:nvPr/>
        </p:nvCxnSpPr>
        <p:spPr>
          <a:xfrm rot="16200000" flipH="1">
            <a:off x="4777370" y="2476209"/>
            <a:ext cx="1479500" cy="187715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连接符: 肘形 56">
            <a:extLst>
              <a:ext uri="{FF2B5EF4-FFF2-40B4-BE49-F238E27FC236}">
                <a16:creationId xmlns:a16="http://schemas.microsoft.com/office/drawing/2014/main" id="{4C9DA70B-089E-4191-A0CF-14F03052E929}"/>
              </a:ext>
            </a:extLst>
          </p:cNvPr>
          <p:cNvCxnSpPr>
            <a:stCxn id="34" idx="2"/>
            <a:endCxn id="47" idx="2"/>
          </p:cNvCxnSpPr>
          <p:nvPr/>
        </p:nvCxnSpPr>
        <p:spPr>
          <a:xfrm rot="5400000" flipH="1" flipV="1">
            <a:off x="2481654" y="2366802"/>
            <a:ext cx="1097326" cy="584946"/>
          </a:xfrm>
          <a:prstGeom prst="bentConnector3">
            <a:avLst>
              <a:gd name="adj1" fmla="val 2315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连接符: 肘形 58">
            <a:extLst>
              <a:ext uri="{FF2B5EF4-FFF2-40B4-BE49-F238E27FC236}">
                <a16:creationId xmlns:a16="http://schemas.microsoft.com/office/drawing/2014/main" id="{3EB2A325-D7CE-4058-B5EF-B1DDDFB2E5A2}"/>
              </a:ext>
            </a:extLst>
          </p:cNvPr>
          <p:cNvCxnSpPr>
            <a:cxnSpLocks/>
            <a:stCxn id="48" idx="0"/>
            <a:endCxn id="46" idx="0"/>
          </p:cNvCxnSpPr>
          <p:nvPr/>
        </p:nvCxnSpPr>
        <p:spPr>
          <a:xfrm rot="16200000" flipV="1">
            <a:off x="4103752" y="384395"/>
            <a:ext cx="367776" cy="1848476"/>
          </a:xfrm>
          <a:prstGeom prst="bentConnector3">
            <a:avLst>
              <a:gd name="adj1" fmla="val 162157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DA2101C9-B873-4A10-82D9-F5EE063D6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1350" y="3233737"/>
            <a:ext cx="2781300" cy="39052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AC8FB30-86AC-4CB1-B9D9-4B4CDE5A0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489" y="4593583"/>
            <a:ext cx="2781300" cy="390525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1761B08A-7F4F-4BBE-89DE-56C75E15E81F}"/>
              </a:ext>
            </a:extLst>
          </p:cNvPr>
          <p:cNvSpPr txBox="1"/>
          <p:nvPr/>
        </p:nvSpPr>
        <p:spPr>
          <a:xfrm>
            <a:off x="394566" y="4068021"/>
            <a:ext cx="4621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 i="0" u="none" strike="noStrike">
                <a:solidFill>
                  <a:srgbClr val="FF6600"/>
                </a:solidFill>
                <a:effectLst/>
                <a:latin typeface="PingFang SC"/>
                <a:hlinkClick r:id="rId4"/>
              </a:rPr>
              <a:t>参数化模块库</a:t>
            </a:r>
            <a:r>
              <a:rPr lang="en-US" altLang="zh-CN" b="1" i="0" u="none" strike="noStrike">
                <a:solidFill>
                  <a:srgbClr val="FF6600"/>
                </a:solidFill>
                <a:effectLst/>
                <a:latin typeface="PingFang SC"/>
                <a:hlinkClick r:id="rId4"/>
              </a:rPr>
              <a:t>(LPM)</a:t>
            </a:r>
            <a:r>
              <a:rPr lang="zh-CN" altLang="en-US" b="1" i="0" u="none" strike="noStrike">
                <a:solidFill>
                  <a:srgbClr val="FF6600"/>
                </a:solidFill>
                <a:effectLst/>
                <a:latin typeface="PingFang SC"/>
                <a:hlinkClick r:id="rId4"/>
              </a:rPr>
              <a:t>的使用</a:t>
            </a:r>
            <a:endParaRPr lang="zh-CN" altLang="en-US" b="1" i="0">
              <a:solidFill>
                <a:srgbClr val="000000"/>
              </a:solidFill>
              <a:effectLst/>
              <a:latin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3048606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副标题 2"/>
          <p:cNvSpPr txBox="1">
            <a:spLocks noChangeArrowheads="1"/>
          </p:cNvSpPr>
          <p:nvPr/>
        </p:nvSpPr>
        <p:spPr bwMode="auto">
          <a:xfrm>
            <a:off x="0" y="27856"/>
            <a:ext cx="4537075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zh-CN" altLang="en-US" sz="2800" b="1" dirty="0">
                <a:solidFill>
                  <a:schemeClr val="bg1"/>
                </a:solidFill>
              </a:rPr>
              <a:t>实验内容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D27C377-3A32-4CB1-9C04-1582159AF728}"/>
              </a:ext>
            </a:extLst>
          </p:cNvPr>
          <p:cNvSpPr/>
          <p:nvPr/>
        </p:nvSpPr>
        <p:spPr>
          <a:xfrm>
            <a:off x="612639" y="1196752"/>
            <a:ext cx="784887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配置宽度为</a:t>
            </a:r>
            <a:r>
              <a:rPr lang="en-US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8</a:t>
            </a:r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位的</a:t>
            </a:r>
            <a:r>
              <a:rPr lang="en-US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ROM</a:t>
            </a:r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，并在</a:t>
            </a:r>
            <a:r>
              <a:rPr lang="en-US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ROM</a:t>
            </a:r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中存储</a:t>
            </a:r>
            <a:r>
              <a:rPr lang="en-US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256</a:t>
            </a:r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个地址的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正弦波数</a:t>
            </a:r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，利用系统时钟作为计数器计数脉冲，计数器输出作为地址读取</a:t>
            </a:r>
            <a:r>
              <a:rPr lang="en-US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ROM</a:t>
            </a:r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内容，将读取的数据通过</a:t>
            </a:r>
            <a:r>
              <a:rPr lang="en-US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FPGA</a:t>
            </a:r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查看。</a:t>
            </a:r>
          </a:p>
          <a:p>
            <a:pPr>
              <a:spcAft>
                <a:spcPts val="0"/>
              </a:spcAft>
            </a:pPr>
            <a:endParaRPr lang="zh-CN" altLang="zh-CN" sz="2800" b="1" dirty="0">
              <a:solidFill>
                <a:srgbClr val="02509B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945019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8191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CC7E6FA4-664D-4486-BC14-5BE8762E0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052736"/>
            <a:ext cx="3703475" cy="475252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F23590B-4EED-4732-A258-34E9DAC26C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1960" y="404664"/>
            <a:ext cx="4859197" cy="623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135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9412</TotalTime>
  <Pages>0</Pages>
  <Words>333</Words>
  <Characters>0</Characters>
  <Application>Microsoft Office PowerPoint</Application>
  <DocSecurity>0</DocSecurity>
  <PresentationFormat>全屏显示(4:3)</PresentationFormat>
  <Lines>0</Lines>
  <Paragraphs>52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PingFang SC</vt:lpstr>
      <vt:lpstr>楷体</vt:lpstr>
      <vt:lpstr>宋体</vt:lpstr>
      <vt:lpstr>微软雅黑</vt:lpstr>
      <vt:lpstr>Arial</vt:lpstr>
      <vt:lpstr>Calibri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Administrator</cp:lastModifiedBy>
  <cp:revision>902</cp:revision>
  <dcterms:created xsi:type="dcterms:W3CDTF">2016-01-05T00:40:52Z</dcterms:created>
  <dcterms:modified xsi:type="dcterms:W3CDTF">2023-05-29T13:33:14Z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2052-10.1.0.6382</vt:lpwstr>
  </property>
</Properties>
</file>