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55" r:id="rId2"/>
    <p:sldId id="483" r:id="rId3"/>
    <p:sldId id="494" r:id="rId4"/>
    <p:sldId id="495" r:id="rId5"/>
    <p:sldId id="487" r:id="rId6"/>
    <p:sldId id="493" r:id="rId7"/>
    <p:sldId id="489" r:id="rId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2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8"/>
    <a:srgbClr val="02509B"/>
    <a:srgbClr val="7D3B05"/>
    <a:srgbClr val="FFFF99"/>
    <a:srgbClr val="404040"/>
    <a:srgbClr val="642F04"/>
    <a:srgbClr val="5C2C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4101" autoAdjust="0"/>
  </p:normalViewPr>
  <p:slideViewPr>
    <p:cSldViewPr>
      <p:cViewPr varScale="1">
        <p:scale>
          <a:sx n="64" d="100"/>
          <a:sy n="64" d="100"/>
        </p:scale>
        <p:origin x="1560" y="60"/>
      </p:cViewPr>
      <p:guideLst>
        <p:guide orient="horz" pos="2154"/>
        <p:guide pos="285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880" y="-108"/>
      </p:cViewPr>
      <p:guideLst>
        <p:guide orient="horz" pos="2880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2CB89-4B05-4A85-A999-B39F95BABE18}" type="datetimeFigureOut">
              <a:rPr lang="zh-CN" altLang="en-US" smtClean="0"/>
              <a:t>2023/6/7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8BCB2-82C8-4B83-A32F-14ECBEE56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D29D7EDA-0295-406E-BA68-4D0790A961A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B539985-1F1C-4FDC-B9A1-575107D9C1B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https://blog.csdn.net/struggle_for_m/article/details/51883916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u="none" strike="noStrike" baseline="0" dirty="0">
                <a:solidFill>
                  <a:srgbClr val="000081"/>
                </a:solidFill>
                <a:latin typeface="Times New Roman" panose="02020603050405020304" pitchFamily="18" charset="0"/>
              </a:rPr>
              <a:t>AD9708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A8FF053-70FE-403A-95EA-18DFD74D14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211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库存数据 4"/>
          <p:cNvSpPr/>
          <p:nvPr/>
        </p:nvSpPr>
        <p:spPr>
          <a:xfrm rot="3294886">
            <a:off x="5830094" y="5320506"/>
            <a:ext cx="1371600" cy="858838"/>
          </a:xfrm>
          <a:prstGeom prst="flowChartOnlineStorag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7" name="流程图: 库存数据 6"/>
          <p:cNvSpPr/>
          <p:nvPr/>
        </p:nvSpPr>
        <p:spPr>
          <a:xfrm rot="8191601">
            <a:off x="7854950" y="5559425"/>
            <a:ext cx="1371600" cy="379413"/>
          </a:xfrm>
          <a:prstGeom prst="flowChartOnlineStorag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733925" y="0"/>
            <a:ext cx="4086225" cy="73501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FontTx/>
              <a:buNone/>
              <a:defRPr/>
            </a:pPr>
            <a:endParaRPr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5307013" y="93663"/>
            <a:ext cx="3852862" cy="54768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auto">
              <a:spcAft>
                <a:spcPts val="0"/>
              </a:spcAft>
              <a:buFontTx/>
              <a:buNone/>
              <a:defRPr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6372225" y="93663"/>
            <a:ext cx="2663825" cy="455612"/>
          </a:xfrm>
        </p:spPr>
        <p:txBody>
          <a:bodyPr>
            <a:noAutofit/>
          </a:bodyPr>
          <a:lstStyle>
            <a:lvl1pPr marL="0" indent="0">
              <a:buNone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-24"/>
            <a:ext cx="4618037" cy="793750"/>
            <a:chOff x="4525963" y="-12700"/>
            <a:chExt cx="4618037" cy="793750"/>
          </a:xfrm>
        </p:grpSpPr>
        <p:pic>
          <p:nvPicPr>
            <p:cNvPr id="6147" name="Picture 2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25963" y="-12700"/>
              <a:ext cx="4618037" cy="76358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6148" name="Picture 3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525963" y="692150"/>
              <a:ext cx="4616450" cy="88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8786844" y="0"/>
            <a:ext cx="357188" cy="688975"/>
            <a:chOff x="-4763" y="-3175"/>
            <a:chExt cx="357188" cy="688975"/>
          </a:xfrm>
        </p:grpSpPr>
        <p:pic>
          <p:nvPicPr>
            <p:cNvPr id="6149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-3175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0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141288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1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290513"/>
              <a:ext cx="357188" cy="77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2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444500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3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606425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7649" name="Picture 1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14876" y="0"/>
            <a:ext cx="41021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矩形 1"/>
          <p:cNvSpPr>
            <a:spLocks noChangeArrowheads="1"/>
          </p:cNvSpPr>
          <p:nvPr/>
        </p:nvSpPr>
        <p:spPr bwMode="auto">
          <a:xfrm>
            <a:off x="0" y="2274888"/>
            <a:ext cx="9144000" cy="2016125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  <a:miter lim="800000"/>
          </a:ln>
        </p:spPr>
        <p:txBody>
          <a:bodyPr anchor="ctr"/>
          <a:lstStyle/>
          <a:p>
            <a:pPr algn="ctr"/>
            <a:endParaRPr lang="zh-CN" altLang="en-US">
              <a:solidFill>
                <a:srgbClr val="B0252A"/>
              </a:solidFill>
            </a:endParaRPr>
          </a:p>
        </p:txBody>
      </p:sp>
      <p:sp>
        <p:nvSpPr>
          <p:cNvPr id="30724" name="直接连接符 3"/>
          <p:cNvSpPr>
            <a:spLocks noChangeShapeType="1"/>
          </p:cNvSpPr>
          <p:nvPr/>
        </p:nvSpPr>
        <p:spPr bwMode="auto">
          <a:xfrm>
            <a:off x="0" y="4506913"/>
            <a:ext cx="9144000" cy="1587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25" name="TextBox 4"/>
          <p:cNvSpPr>
            <a:spLocks noChangeArrowheads="1"/>
          </p:cNvSpPr>
          <p:nvPr/>
        </p:nvSpPr>
        <p:spPr bwMode="auto">
          <a:xfrm>
            <a:off x="-19137" y="2636912"/>
            <a:ext cx="9144000" cy="56311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实验六 信号发生器</a:t>
            </a:r>
            <a:endParaRPr lang="en-US" altLang="zh-CN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</a:p>
          <a:p>
            <a:pPr algn="ctr">
              <a:lnSpc>
                <a:spcPct val="150000"/>
              </a:lnSpc>
            </a:pPr>
            <a:endParaRPr lang="en-US" altLang="zh-CN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ROM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设计</a:t>
            </a:r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44624"/>
            <a:ext cx="31277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数字电路设计实验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2"/>
          <p:cNvSpPr txBox="1">
            <a:spLocks noChangeArrowheads="1"/>
          </p:cNvSpPr>
          <p:nvPr/>
        </p:nvSpPr>
        <p:spPr bwMode="auto">
          <a:xfrm>
            <a:off x="0" y="27856"/>
            <a:ext cx="4537075" cy="5921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问题分析（二）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5508103" y="3207938"/>
            <a:ext cx="3574095" cy="1152128"/>
            <a:chOff x="3158145" y="2276872"/>
            <a:chExt cx="3574095" cy="1152128"/>
          </a:xfrm>
        </p:grpSpPr>
        <p:sp>
          <p:nvSpPr>
            <p:cNvPr id="6" name="矩形 5"/>
            <p:cNvSpPr/>
            <p:nvPr/>
          </p:nvSpPr>
          <p:spPr>
            <a:xfrm>
              <a:off x="3851920" y="2276872"/>
              <a:ext cx="1872208" cy="115212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ROM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3261020" y="2420888"/>
              <a:ext cx="5909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>
              <a:off x="3261020" y="3140968"/>
              <a:ext cx="5909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5724128" y="2780928"/>
              <a:ext cx="100811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3158145" y="2340749"/>
              <a:ext cx="156083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2509B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address[7..0]</a:t>
              </a:r>
              <a:endParaRPr lang="zh-CN" altLang="en-US" sz="2000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3176180" y="2769801"/>
              <a:ext cx="51167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err="1">
                  <a:solidFill>
                    <a:srgbClr val="02509B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clk</a:t>
              </a:r>
              <a:endParaRPr lang="zh-CN" altLang="en-US" sz="20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5688161" y="2378751"/>
              <a:ext cx="88773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2509B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P[7..0]</a:t>
              </a:r>
              <a:endParaRPr lang="zh-CN" altLang="en-US" sz="2000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0" y="2795128"/>
            <a:ext cx="3322955" cy="831632"/>
            <a:chOff x="2481779" y="2231984"/>
            <a:chExt cx="4436156" cy="1197016"/>
          </a:xfrm>
        </p:grpSpPr>
        <p:sp>
          <p:nvSpPr>
            <p:cNvPr id="23" name="矩形 22"/>
            <p:cNvSpPr/>
            <p:nvPr/>
          </p:nvSpPr>
          <p:spPr>
            <a:xfrm>
              <a:off x="3851920" y="2276872"/>
              <a:ext cx="1872208" cy="115212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PLL </a:t>
              </a:r>
              <a:r>
                <a:rPr lang="zh-CN" altLang="en-US" sz="2000" dirty="0">
                  <a:solidFill>
                    <a:schemeClr val="tx1"/>
                  </a:solidFill>
                </a:rPr>
                <a:t>倍频</a:t>
              </a:r>
            </a:p>
          </p:txBody>
        </p:sp>
        <p:cxnSp>
          <p:nvCxnSpPr>
            <p:cNvPr id="29" name="直接箭头连接符 28"/>
            <p:cNvCxnSpPr/>
            <p:nvPr/>
          </p:nvCxnSpPr>
          <p:spPr>
            <a:xfrm>
              <a:off x="2843808" y="2780928"/>
              <a:ext cx="100811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>
              <a:off x="5724128" y="2780928"/>
              <a:ext cx="41268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/>
            <p:cNvSpPr/>
            <p:nvPr/>
          </p:nvSpPr>
          <p:spPr>
            <a:xfrm>
              <a:off x="2481779" y="2231984"/>
              <a:ext cx="105349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2509B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50MHZ</a:t>
              </a:r>
              <a:endParaRPr lang="zh-CN" altLang="en-US" sz="2000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5632781" y="2250264"/>
              <a:ext cx="1285154" cy="573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rgbClr val="02509B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100M</a:t>
              </a:r>
              <a:endParaRPr lang="zh-CN" altLang="en-US" sz="2000" dirty="0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153699" y="1124745"/>
            <a:ext cx="2635712" cy="1243304"/>
            <a:chOff x="3026162" y="1956343"/>
            <a:chExt cx="3987922" cy="1472657"/>
          </a:xfrm>
        </p:grpSpPr>
        <p:sp>
          <p:nvSpPr>
            <p:cNvPr id="42" name="矩形 41"/>
            <p:cNvSpPr/>
            <p:nvPr/>
          </p:nvSpPr>
          <p:spPr>
            <a:xfrm>
              <a:off x="3851920" y="2276872"/>
              <a:ext cx="1872208" cy="11521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</a:rPr>
                <a:t>计数</a:t>
              </a:r>
            </a:p>
          </p:txBody>
        </p:sp>
        <p:cxnSp>
          <p:nvCxnSpPr>
            <p:cNvPr id="43" name="直接箭头连接符 42"/>
            <p:cNvCxnSpPr/>
            <p:nvPr/>
          </p:nvCxnSpPr>
          <p:spPr>
            <a:xfrm>
              <a:off x="3270676" y="2420888"/>
              <a:ext cx="5812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>
              <a:off x="3270676" y="3140968"/>
              <a:ext cx="5812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>
              <a:off x="5724128" y="2780928"/>
              <a:ext cx="73596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/>
            <p:cNvSpPr/>
            <p:nvPr/>
          </p:nvSpPr>
          <p:spPr>
            <a:xfrm>
              <a:off x="3102038" y="1956343"/>
              <a:ext cx="482824" cy="4001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err="1">
                  <a:solidFill>
                    <a:srgbClr val="02509B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clr</a:t>
              </a:r>
              <a:endParaRPr lang="zh-CN" altLang="en-US" sz="2000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3026162" y="2723964"/>
              <a:ext cx="511679" cy="4001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err="1">
                  <a:solidFill>
                    <a:srgbClr val="02509B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clk</a:t>
              </a:r>
              <a:endParaRPr lang="zh-CN" altLang="en-US" sz="2000" dirty="0"/>
            </a:p>
          </p:txBody>
        </p:sp>
        <p:sp>
          <p:nvSpPr>
            <p:cNvPr id="48" name="矩形 47"/>
            <p:cNvSpPr/>
            <p:nvPr/>
          </p:nvSpPr>
          <p:spPr>
            <a:xfrm>
              <a:off x="5692056" y="2391963"/>
              <a:ext cx="1322028" cy="4723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2509B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q[7..0]</a:t>
              </a:r>
              <a:endParaRPr lang="zh-CN" altLang="en-US" sz="2000" dirty="0"/>
            </a:p>
          </p:txBody>
        </p:sp>
      </p:grpSp>
      <p:cxnSp>
        <p:nvCxnSpPr>
          <p:cNvPr id="53" name="连接符: 肘形 52"/>
          <p:cNvCxnSpPr/>
          <p:nvPr/>
        </p:nvCxnSpPr>
        <p:spPr>
          <a:xfrm rot="16200000" flipH="1">
            <a:off x="4777370" y="2476209"/>
            <a:ext cx="1479500" cy="187715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/>
          <p:cNvCxnSpPr>
            <a:endCxn id="47" idx="2"/>
          </p:cNvCxnSpPr>
          <p:nvPr/>
        </p:nvCxnSpPr>
        <p:spPr>
          <a:xfrm rot="16200000">
            <a:off x="2496185" y="2314575"/>
            <a:ext cx="1030605" cy="622935"/>
          </a:xfrm>
          <a:prstGeom prst="bentConnector3">
            <a:avLst>
              <a:gd name="adj1" fmla="val -3154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/>
          <p:cNvCxnSpPr>
            <a:stCxn id="48" idx="0"/>
            <a:endCxn id="46" idx="0"/>
          </p:cNvCxnSpPr>
          <p:nvPr/>
        </p:nvCxnSpPr>
        <p:spPr>
          <a:xfrm rot="16200000" flipV="1">
            <a:off x="4174173" y="314008"/>
            <a:ext cx="367665" cy="1988820"/>
          </a:xfrm>
          <a:prstGeom prst="bentConnector3">
            <a:avLst>
              <a:gd name="adj1" fmla="val 16485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5043170" y="5043734"/>
            <a:ext cx="3145000" cy="800446"/>
            <a:chOff x="1525543" y="2276872"/>
            <a:chExt cx="4198585" cy="1152128"/>
          </a:xfrm>
        </p:grpSpPr>
        <p:sp>
          <p:nvSpPr>
            <p:cNvPr id="4" name="矩形 3"/>
            <p:cNvSpPr/>
            <p:nvPr/>
          </p:nvSpPr>
          <p:spPr>
            <a:xfrm>
              <a:off x="3851920" y="2276872"/>
              <a:ext cx="1872208" cy="115212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DA</a:t>
              </a:r>
              <a:r>
                <a:rPr lang="zh-CN" altLang="en-US" sz="2000" dirty="0">
                  <a:solidFill>
                    <a:schemeClr val="tx1"/>
                  </a:solidFill>
                </a:rPr>
                <a:t>模块</a:t>
              </a:r>
            </a:p>
          </p:txBody>
        </p:sp>
        <p:cxnSp>
          <p:nvCxnSpPr>
            <p:cNvPr id="8" name="直接箭头连接符 7"/>
            <p:cNvCxnSpPr>
              <a:endCxn id="13" idx="3"/>
            </p:cNvCxnSpPr>
            <p:nvPr/>
          </p:nvCxnSpPr>
          <p:spPr>
            <a:xfrm flipH="1">
              <a:off x="2792047" y="2751336"/>
              <a:ext cx="988450" cy="2924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1525543" y="2493386"/>
              <a:ext cx="1266504" cy="5739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2509B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示波器</a:t>
              </a:r>
            </a:p>
          </p:txBody>
        </p:sp>
      </p:grpSp>
      <p:cxnSp>
        <p:nvCxnSpPr>
          <p:cNvPr id="15" name="连接符: 肘形 52"/>
          <p:cNvCxnSpPr/>
          <p:nvPr/>
        </p:nvCxnSpPr>
        <p:spPr>
          <a:xfrm rot="5400000">
            <a:off x="7966075" y="4347210"/>
            <a:ext cx="1591945" cy="459105"/>
          </a:xfrm>
          <a:prstGeom prst="bentConnector3">
            <a:avLst>
              <a:gd name="adj1" fmla="val 5002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4" idx="3"/>
          </p:cNvCxnSpPr>
          <p:nvPr/>
        </p:nvCxnSpPr>
        <p:spPr>
          <a:xfrm flipH="1" flipV="1">
            <a:off x="8188325" y="5444490"/>
            <a:ext cx="344170" cy="127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6675" y="1042670"/>
            <a:ext cx="9010650" cy="4772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8EC05E6-55AD-6253-3440-F92C600D7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1447800"/>
            <a:ext cx="829056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92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052736"/>
            <a:ext cx="3703475" cy="475252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75360" y="5805170"/>
            <a:ext cx="20237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模块引脚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102865-8CF9-452E-8B8B-59E95BF88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605" y="1052736"/>
            <a:ext cx="5095875" cy="5238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908720"/>
            <a:ext cx="3283585" cy="43783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943505"/>
            <a:ext cx="3282950" cy="437832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75B75C3-330C-44EB-B166-2B3280E6712E}"/>
              </a:ext>
            </a:extLst>
          </p:cNvPr>
          <p:cNvSpPr/>
          <p:nvPr/>
        </p:nvSpPr>
        <p:spPr>
          <a:xfrm>
            <a:off x="467544" y="5805264"/>
            <a:ext cx="6645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60A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仪表使用：https://v.ixigua.com/AFM3YFC/点击链接直接打开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副标题 2"/>
          <p:cNvSpPr txBox="1">
            <a:spLocks noChangeArrowheads="1"/>
          </p:cNvSpPr>
          <p:nvPr/>
        </p:nvSpPr>
        <p:spPr bwMode="auto">
          <a:xfrm>
            <a:off x="0" y="27856"/>
            <a:ext cx="4537075" cy="5921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实验内容</a:t>
            </a:r>
          </a:p>
        </p:txBody>
      </p:sp>
      <p:sp>
        <p:nvSpPr>
          <p:cNvPr id="2" name="矩形 1"/>
          <p:cNvSpPr/>
          <p:nvPr/>
        </p:nvSpPr>
        <p:spPr>
          <a:xfrm>
            <a:off x="494347" y="980728"/>
            <a:ext cx="8085455" cy="4191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 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配置宽度为</a:t>
            </a: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位的</a:t>
            </a: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ROM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，并在</a:t>
            </a: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ROM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中存储</a:t>
            </a: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256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个地址的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正弦波数，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PLL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生成</a:t>
            </a: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100M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时钟作为计数器计数脉冲，计数器输出作为地址读取</a:t>
            </a: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ROM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内容，将正弦波信号通过</a:t>
            </a: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模块（</a:t>
            </a:r>
            <a:r>
              <a:rPr lang="en-US" altLang="zh-CN" sz="2000" dirty="0">
                <a:solidFill>
                  <a:srgbClr val="000081"/>
                </a:solidFill>
                <a:latin typeface="Times New Roman" panose="02020603050405020304" pitchFamily="18" charset="0"/>
                <a:sym typeface="+mn-ea"/>
              </a:rPr>
              <a:t>AD9708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）转换为模拟信号，通过示波器显示波形。</a:t>
            </a:r>
            <a:endParaRPr lang="en-US" altLang="zh-CN" sz="2000" b="1" dirty="0">
              <a:solidFill>
                <a:srgbClr val="02509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000" b="1" dirty="0">
              <a:solidFill>
                <a:srgbClr val="02509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  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利用控制开关控制波形切换，比如当拨动开关置为</a:t>
            </a: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时，输出正弦波，当拨动开关置为</a:t>
            </a: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时，输入其他波形。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提示：可以用</a:t>
            </a:r>
            <a:r>
              <a:rPr lang="en-US" altLang="zh-CN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VHDL</a:t>
            </a:r>
            <a:r>
              <a:rPr lang="zh-CN" altLang="en-US" sz="2000" b="1" dirty="0">
                <a:solidFill>
                  <a:srgbClr val="02509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语言写一个数据选择器。</a:t>
            </a:r>
            <a:endParaRPr lang="en-US" altLang="zh-CN" sz="2000" b="1" dirty="0">
              <a:solidFill>
                <a:srgbClr val="02509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2509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50003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515,&quot;width&quot;:1419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196</Words>
  <Application>Microsoft Office PowerPoint</Application>
  <PresentationFormat>全屏显示(4:3)</PresentationFormat>
  <Paragraphs>34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黑体</vt:lpstr>
      <vt:lpstr>楷体</vt:lpstr>
      <vt:lpstr>宋体</vt:lpstr>
      <vt:lpstr>微软雅黑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Administrator</cp:lastModifiedBy>
  <cp:revision>915</cp:revision>
  <dcterms:created xsi:type="dcterms:W3CDTF">2016-01-05T00:40:00Z</dcterms:created>
  <dcterms:modified xsi:type="dcterms:W3CDTF">2023-06-07T04:17:11Z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